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Heute stelle ich euch unsere Fahrer App vor – die App der Rica Service GmbH für den Arbeitsalltag unserer Fahrer. Rechts seht ihr das Startbild, mit dem die App aufgeht. Ich zeige, was die App kann, wie die wichtigsten Abläufe funktionieren und worauf es ankommt. [Name und Datum ergänzen]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zum Ablauf. Erstens der Einstieg: was die App kann, wie die Startseite aussieht und wie man sich anmeldet. Zweitens das Herzstück: die Fahrzeugkontrolle mit der Sterne-Bewertung, danach offene Mängel und die Werkstatt. Drittens Übergabeprotokoll und Unfallmeldung, mit den wichtigsten Regeln, um Unfälle zu vermeiden. Viertens alles für unterwegs und den Alltag: Arbeiten ohne Netz, Mitteilungen und Arbeitsanweisung, Einstellungen, Spritpreise und Bestellungen. Zum Schluss unser Anspruch, Zeit für Fragen und das Thema Datenschutz.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Idee hinter der App: Alles, was ein Fahrer im Alltag braucht, steckt in einer App – Fahrzeugkontrolle, Werkstatt, Unfallmeldung, Bestellungen, Arbeitsanweisungen und mehr. Die App gibt es als Android-App mit eigenem Symbol und Push-Nachrichten mit Ton, außerdem läuft sie im Browser. Die wichtigsten Abläufe funktionieren auch ohne Netz. Und alles ist nachvollziehbar dokumentiert: Fotos bekommen einen Zeitstempel, die Adresse kommt per GPS, Kontrollen und Protokolle werden unterschrieben und als PDF gespeichert.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sieht man alle Bereiche der App für Fahrer. Unten in der Leiste liegen Start, Kontrollen und Werkstatt, alles andere ist ebenfalls im Menü erreichbar: Offene Mängel, Protokolle, Unfallmeldung, die Arbeitsanweisung, Bestellungen, Spritpreise, der Bestand des eigenen Fahrzeugs und die Einstellungen. Handkasse und Einarbeitung erscheinen nur, wenn sie dem Fahrer zugewiesen sind. Rote Zahlen am Menü zeigen offene Vorgänge, zum Beispiel offene Mängel oder Bestellungen. Die Startseite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Startseite ist der Ausgangspunkt. Oben steht die tiefste Temperatur am Morgen am eigenen Standort; liegt sie unter 3 °C, kommt der Hinweis auf Glättegefahr. Dann „Meine Bewertung“ mit den Sternen – dazu gleich mehr. Über die Schnellzugriffe startet man mit einem Tipp eine neue Kontrolle, eine Übergabe, eine Bestellung, eine Unfallmeldung oder eine KFZ-Fehlermeldung. Wurde ein Vorgang unterbrochen, steht oben ein Hinweis zum Fortsetzen. Beim Öffnen der App erscheinen außerdem neue Mitteilungen des Regionalleiters, fällige Kontroll-Erinnerungen und Neuigkeiten in der Arbeitsanweisung als Fenster, die man bestätigt. Auf der Startseite lassen sich auch die Sprache und das Tag- oder Nacht-Design umstellen.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kommt ein neuer Fahrer in die App. Erstens: Der Regionalleiter lädt ihn ein – per E-Mail kommt ein sicherer Link, der nur begrenzte Zeit gültig ist. Zweitens: Der Fahrer legt sein eigenes Kennwort fest, mindestens acht Zeichen, und bestätigt seine E-Mail-Adresse mit einem Code. Kommt keine E-Mail, lohnt ein Blick in den Spam-Ordner – darauf weist die App auch hin. Drittens: Name, Region und Fahrzeug hat der Regionalleiter schon bei der Einladung eingetragen; sie werden automatisch übernommen. Wer sich ohne Einladung registriert, wird erst nach einer Freigabe freigeschaltet. Einmal angemeldet, bleibt man angemeldet, bis man sich selbst abmeldet – auch ohne Internet. Kennwort vergessen? Über „Passwort vergessen?“ kommt ein Link per E-Mail; in den Einstellungen kann man das Kennwort jederzeit selbst ändern.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Kommen wir zum Herzstück der App: der Fahrzeugkontrolle. Sicherheit beginnt mit Kontrolle – geprüft, dokumentiert, sicher unterwegs.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läuft eine Kontrolle für den Fahrer ab. Erstens: Fahrzeug, Kennzeichen und Kilometerstand – Fahrzeug und Kennzeichen kommen aus den Einstellungen. Die genaue Adresse, also Straße, Hausnummer, PLZ und Ort, ermittelt die App beim Öffnen automatisch per GPS; von Hand ändern kann der Fahrer sie nicht. Zweitens: Bei jedem der 18 Kontrollpunkte mindestens ein Foto, bis zu 10 pro Punkt und höchstens 100 insgesamt. Punkt 18, nicht gemeldete Schäden, nur bei Bedarf. Der Fahrer bewertet die Punkte nicht selbst. Drittens: Bemerkungen sind freiwillig, ebenso ein Video bis drei Minuten – vorher erscheint ein Datenschutzhinweis. Die App sichert den Stand laufend; auch wenn sie beim Fotografieren geschlossen wird, geht es beim nächsten Öffnen weiter. Viertens: Zusammenfassung prüfen und unterschreiben. Fünftens: Die Kontrolle geht an den Regionalleiter. Er bewertet jeden Punkt mit „In Ordnung“ oder „Mangel“; gibt es Mängel, bekommt der Fahrer die Kontrolle mit den zu behebenden Mängeln zurück. Ohne Netz wird die fertige Kontrolle auf dem Handy gespeichert und automatisch übertragen, sobald wieder Netz da ist. Fällig ist die Kontrolle 28 Tage nach der letzten. Die App erinnert drei Tage vorher, am Fälligkeitstag und bei Verzug. Ist sie fällig, muss der Fahrer die Erinnerung mit „Verstanden“ bestätigen; tut er das zwei Tage lang nicht, kommen tägliche Erinnerungen und der Regionalleiter wird informiert. Bei eingetragenem Urlaub oder Krankheit ruhen die Erinnerungen.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Kontrolle umfasst 18 Punkte in vier Bereichen. Außen: alle vier Seiten des Fahrzeugs, Spiegelschäden und Sauberkeit. Ladung und Technik: Reifen, Hebebühne, Ladefläche und Sicherungsmittel, Bindemittel und Unterlagen. Innenraum: Sauberkeit der Kabine, Tacho und Display, Verbandkasten und Warndreieck. Verhalten: Sicherheitsschuhe, Arbeitskleidung, Rauchverbot – und Punkt 18: Wurden nicht gemeldete Schäden entdeckt? Der Fahrer macht zu jedem Punkt mindestens ein Foto; bei Punkt 18 nur, wenn es etwas zu zeigen gibt. Ein Fortschrittsbalken zeigt, wie viele Punkte schon ein Foto haben. Die Bewertung „In Ordnung“ oder „Mangel“ trifft danach der Regionalleiter anhand der Fotos.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 ist „Meine Bewertung“ auf der Startseite. Jeder Fahrer sieht dort seine Sterne von eins bis fünf und seinen Platz in der Region – gerechnet über die letzten 90 Tage und ohne die Namen der anderen. Die Sterne zeigen, wie zuverlässig jemand seine Fahrzeugkontrollen macht: pünktlich im 28-Tage-Rhythmus und vollständig mit allen Fotos gibt fünf Sterne, überfällige Kontrollen ziehen Sterne ab. Urlaub und Krankheit zählen nicht dagegen. Unter „Wie entstehen meine Sterne?“ sieht der Fahrer, wie viele Kontrollen pünktlich und vollständig waren und ob gerade etwas überfällig ist. Die Regionalleiter sehen die Rangliste in ihrer Auswertung.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passiert, wenn bei der Kontrolle etwas auffällt? Dann wird daraus ein offener Mangel – wie hier ein Steinschlag, ein Spiegel- oder ein Karosserieschaden.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Findet der Regionalleiter bei der Prüfung der Fotos einen Mangel, landet er unter „Offene Mängel“, und der Fahrer bekommt die Kontrolle mit den zu behebenden Mängeln zurück. Eine rote Zahl am Menüpunkt zeigt, wie viele Mängel offen sind. Der Fahrer behebt den Mangel und reicht einen Nachweis ein: mindestens ein aktuelles Foto, bis zu fünf, und einen kurzen Kommentar; ein Video kann er zusätzlich anhängen. Mit dem Absenden bestätigt er, dass der Mangel behoben ist. Angefangene Eingaben sichert die App automatisch. Danach prüft der Regionalleiter und schließt den Mangel ab. Damit nichts liegen bleibt, prüft die App stündlich die 48-Stunden-Frist und schickt eine Sammel-Erinnerung, bis der Mangel abgeschlossen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Werkstatt hat einen klaren Ablauf in vier Schritten, den Fahrer und Regionalleiter gemeinsam sehen. Erstens: Leuchtet eine Warnung oder stimmt etwas nicht, meldet der Fahrer den Fehler mit „Fehler melden“ – Kennzeichen, Beschreibung, bis zu 10 Fotos und auf Wunsch ein Video. Die Admins werden sofort informiert. Zweitens: Der Regionalleiter trägt einen Termin mit Datum, Uhrzeit, Werkstatt und Adresse ein. Der Fahrer bekommt ihn per Push und E-Mail und kommt mit dem Knopf „Route“ direkt über Google Maps hin. Drittens: Ab der Terminzeit fragt die App alle 10 Minuten „Sind Sie in der Werkstatt angekommen?“ – am Termintag zwischen 6 und 20 Uhr, bis der Fahrer „Ja, angekommen“ oder „Termin verschoben“ tippt. Bei „verschoben“ trägt der Regionalleiter einen neuen Termin ein. Viertens: Ist die Reparatur fertig, tippt der Fahrer „Reparatur fertig – abschließen“, auf Wunsch mit einer kurzen Bemerkung. Ein Fortschrittsbalken zeigt den Stand, und der Verlauf hält jeden Schritt mit Datum, Uhrzeit und Namen 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Weiter mit den Protokollen: Wird ein Fahrzeug übergeben, entsteht ein digitales Übergabeprotokoll – übersichtlich, digital und sicher.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Wird ein Fahrzeug übergeben, erstellt der Fahrer ein Übergabeprotokoll. Es hat vier Teile: Sichtprüfung außen mit allen Schäden und Fotos, Sichtprüfung innen, Funktionsprüfung von Spiegeln bis Signalhorn und das Zubehör – vom KFZ-Schein über Tankkarte und Schlüssel bis zum Fahrtenbuch. Dazu kommen Bemerkungen, auf Wunsch ein Video bis drei Minuten und zwei Unterschriften mit Namen: von dem, der übergibt, und von dem, der übernimmt. Die Fahrzeugdaten werden aus den Einstellungen übernommen, die Adresse der Übergabe ermittelt die App automatisch per GPS. Auch das Übergabeprotokoll funktioniert ohne Netz und wird später automatisch hochgeladen. Alle Protokolle findet man unter „Protokolle“, auch als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einem Unfall führt ein Assistent Schritt für Schritt durch die Meldung – rechts die komplette Anleitung. Zuerst im Menü „Unfallmeldung“ öffnen und die Unfallart wählen, zum Beispiel Parkschaden oder Wildunfall. Dann: Gibt es Verletzte, gibt es Zeugen? Die eigenen Fahrzeugdaten sind schon eingetragen und werden nur geprüft; die Daten des anderen Fahrzeugs trägt man selbst ein oder lässt sie die andere Person eingeben. Danach den Hergang auswählen und eine Unfallskizze zeichnen – Fahrzeuge, Pfeile und Schilder lassen sich platzieren und drehen. Schäden markieren, Fotos aufnehmen, bis zu 10 pro Punkt, und bei Bedarf den Hergang in eigenen Worten erklären. Zum Schluss alles prüfen, mit dem Finger unterschreiben und abschließen. Die App sichert die Meldung laufend; auch ohne Netz wird sie mit allen Fotos auf dem Handy gespeichert und automatisch hochgeladen, sobald wieder Netz da ist. In der Liste steht danach die vollständige Adresse des Unfallorts.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wichtigsten Hinweise aus der Anleitung: Alle Angaben vollständig und wahrheitsgemäß eingeben. Sichtbare Schäden möglichst mit Fotos dokumentieren. Eine verständliche Skizze erstellen. Vor dem Abschluss alles kontrollieren – einzelne Bereiche lassen sich in der Zusammenfassung über „Bearbeiten“ korrigieren. Und: Die Unfallmeldung ist nur auf Deutsch verfügbar. Nach dem Abschluss kann man den Bericht ansehen, bearbeiten, als PDF herunterladen oder teilen. Ganz wichtig für die Fahrer: Die Unterschrift bestätigt nur die Angaben, sie ist kein Schuldanerkenntnis.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Noch besser als jede Unfallmeldung ist der Unfall, der gar nicht passiert. Deshalb zum Schluss dieses Teils die wichtigsten Regeln: angepasste Geschwindigkeit, ausreichend Abstand, vorausschauend fahren, Pausen machen, kein Handy am Steuer, Wetter und Straße beachten, anschnallen und Rücksicht nehmen. Ihre Sicherheit ist unser Ziel – achtsam fahren, Unfälle vermeiden.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Unterwegs gibt es nicht überall Netz – die App ist darauf vorbereitet. Sie startet auch ohne Internet, und man bleibt angemeldet. Fahrzeugkontrolle, Übergabeprotokoll und Unfallmeldung lassen sich komplett ohne Netz machen: Fotos und der fertige Vorgang werden auf dem Handy gespeichert und automatisch hochgeladen, sobald wieder Netz da ist. Oben zeigt ein Hinweis „Kein Netz“ oder „Wartet auf Übertragung“; „Jetzt hochladen“ gibt es nur als Notfall-Knopf. Kontrollen, Offene Mängel, Werkstatt, Bestand, Protokolle und Unfallmeldungen zeigen offline den zuletzt geladenen Stand mit dem Hinweis „Offline – Stand von …“. Spritpreise zeigen ohne Netz nur die Tankstellen, keine alten Preise. Bestellungen und Handkasse erscheinen erst wieder mit Netz. Und die Android-App schickt Push-Nachrichten mit Ton, auch wenn sie geschlossen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Wege, wie die App informiert. Mitteilungen: Der Regionalleiter schreibt über die Mitteilungszentrale an einzelne Fahrer oder alle – sofort oder geplant. Beim Öffnen der App erscheint die Mitteilung als Fenster mit Ton und wird mit „OK“ bestätigt; der Regionalleiter sieht, wer gelesen hat. Arbeitsanweisung: Hier stehen die Regeln und Abläufe, aufgeteilt in Punkte wie Leerfahrten oder Krankmeldungen – mit Text, Fotos und PDF-Seiten, die man antippen und vergrößern kann. Unter Leerfahrten steht zum Beispiel die Anleitung „Problem bei der Abholung“. Wird die Arbeitsanweisung geändert, erscheint ein Hinweis, den der Fahrer mit „Gelesen – OK“ bestätigt. Kälte-Warnung: Liegt die Temperatur unter 3 °C, warnt die App abends um 18 Uhr für den nächsten Morgen und noch einmal früh um 5 Uhr vor Glätte. Dafür nutzt die App einen auf etwa einen Kilometer gerundeten Standort.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Einstellungen sind die Grundlage für alles andere. Unter „Mein Fahrzeug“ trägt der Fahrer Kennzeichen, Hersteller und Modell ein, die Telefonnummer ist optional. Die Region legt der Regionalleiter fest, sie wird hier nur angezeigt. Unter „Zusätzliche Angaben“ kommen Fahrer, Halter, Versicherungsgesellschaft und Versicherungsnummer dazu – die werden für die Unfallmeldung gebraucht. Dann „Pflichtdaten speichern“ tippen. Fehlt etwas, zeigt ein roter Hinweis „Fehlend: …“ genau an, welches Feld. Diese Daten werden automatisch in jede neue Kontrolle und jedes Übergabeprotokoll übernommen. Außerdem gibt es „Kennwort ändern“ – mindestens acht Zeichen – und unter „Version“ sieht man, welche App-Version installiert ist und was sich geändert hat. Ganz unten finden sich Datenschutz und Impressum, und hier meldet man sich auch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praktischer Helfer für unterwegs: die Spritpreise. Kraftstoffsorte wählen – Alle, Super E5, Super E10 oder Diesel; Diesel ist voreingestellt. Suchradius festlegen: 2, 5, 10, 15 oder 25 Kilometer. Sortieren nach Entfernung oder Preis – die günstigste Tankstelle steht immer oben, mit Preis, Entfernung und Adresse. Der Standort wird beim Öffnen ermittelt und lässt sich neu bestimmen; er wird nicht gespeichert. Mit „Navigieren“ öffnet sich Google Maps direkt zur Tankstelle. Neu: Angezeigt werden nur noch Tankstellen aus dem UTA-Akzeptanznetz, also dort, wo die Tankkarte funktioniert. ARAL und Shell erscheinen weiterhin nicht. Findet die App nichts, hilft ein größerer Suchradius. Schnell, einfach, günstig.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Unter „Bestellungen“ bekommt der Fahrer alles für den Einsatz: Säcke in 1000 und 2000 Litern, Papier-Presse-Bänder für die kleinen PPK-Pressen von Trautmann, ESG-Scheine und Arbeitskleidung. Offene Bestellungen zeigt eine rote Zahl am Menüpunkt. Wird verschickt, verfolgt die App die Sendung bei DHL und DPD – von 7 bis 18 Uhr stündlich. Bei jeder Änderung kommt eine Push-Nachricht und eine E-Mail, etwa „Paket unterwegs“, „wird heute zugestellt“ oder „zugestellt“, und in der Bestellung zeigt eine Zeitleiste jeden Schritt. Ist nicht alles lieferbar, legt der Regionalleiter je Artikel fest, was geliefert, nachgeliefert oder nicht geliefert wird; der Fahrer wird jeweils informiert, und offene Artikel bleiben offen, bis sie geliefert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weitere Bereiche. Bestand: Hier steht die Ausstattung des eigenen Fahrzeugs – zum Beispiel Warnweste, Warndreieck, Verbandkasten oder Feuerlöscher – mit Anzahl und Status: vorhanden, fehlt, prüfen oder defekt, auf Wunsch mit Kaufdatum und Foto. Ein Symbol zeigt die Fahrzeugart, also Kastenwagen oder Pritsche. Der Fahrer sieht automatisch sein Fahrzeug; ändern können Regionalleiter und Admins. Handkasse: Wer eine Handkasse hat, sieht hier den Monat und den aktuellen Stand; ändert sich der Betrag, kommt eine Nachricht. Gepflegt wird die Handkasse vom Regionalleiter, der Fahrer kann sie nur ansehen – das Bild ist eine Illustration. Einarbeitung: Für neue Fahrer gibt es einen Einarbeitungsplan mit 14 Themen – von den Kunden und Entsorgungsanlagen über Ladungssicherung und die Presse bis zur Arbeitssicherheit. Am Ende unterschreiben der neue Mitarbeiter und der Einarbeitungsfahrer, und der Plan wird als PDF gespeichert. Handkasse und Einarbeitung sieht nur, wem sie zugewiesen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Zusammengefasst: Die Fahrer App soll den Arbeitsalltag einfacher, digitaler und übersichtlicher machen. Dahinter stehen unsere vier Werte: umweltbewusst, gemeinsam stärker, zuverlässig im Einsatz und effiziente Prozesse. Gemeinsam für eine saubere Zukunft.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Vielen Dank fürs Zuhören! Jetzt ist Zeit für Fragen. Wer möchte, dem zeige ich die App direkt live auf dem Smartphone. [Kontaktdaten ergänzen]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das Thema Datenschutz. Gesichter auf Fotos erkennt die App direkt auf dem Handy und macht sie vor dem Speichern unkenntlich, auch in den PDF-Protokollen. Vor Fotos erscheint ein Datenschutzhinweis: bitte keine Personen fotografieren. Vor jedem Video kommt ein eigener Hinweis, der bestätigt werden muss, denn in Videos werden Gesichter nicht automatisch unkenntlich gemacht – also keine Personen filmen und keine Gespräche aufnehmen. Fotos, Videos, Unterschriften und PDFs liegen nicht öffentlich; Berechtigte rufen sie über Links ab, die nach spätestens einer Stunde ablaufen. Jeder Fahrer sieht nur seine eigenen Vorgänge, ein Regionalleiter nur seine Region. Für Kontrolle und Übergabe ermittelt die App die Adresse per GPS und speichert nur die Adresse, nicht die Position; bei Unfällen auch den Unfallort. Für die Kälte-Warnung nutzt die Android-App einen auf etwa einen Kilometer gerundeten Standort, gespeichert wird nur der letzte Wert. Alle Daten liegen bei Supabase im Rechenzentrum in Frankfurt am Main. Gelöscht wird automatisch: Vorgänge nach 5 Jahren, die Handkasse nach 8 Jahren wegen der gesetzlichen Aufbewahrungsfrist, angefangene Vorgänge nach 14 Tagen. Datenschutzerklärung, Impressum und die Rechte nach DSGVO stehen ganz unten in den Einstellungen.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6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E1F4D"/>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0E1F4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E1F4D"/>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0E1F4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2.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webp"/><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webp"/><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webp"/><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webp"/><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webp"/><Relationship Id="rId2" Type="http://schemas.openxmlformats.org/officeDocument/2006/relationships/image" Target="../media/image-20-2.webp"/><Relationship Id="rId3" Type="http://schemas.openxmlformats.org/officeDocument/2006/relationships/image" Target="../media/image-20-3.jpe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webp"/><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webp"/><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webp"/><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webp"/><Relationship Id="rId2" Type="http://schemas.openxmlformats.org/officeDocument/2006/relationships/image" Target="../media/image-24-2.webp"/><Relationship Id="rId3" Type="http://schemas.openxmlformats.org/officeDocument/2006/relationships/image" Target="../media/image-24-3.webp"/><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webp"/><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4D"/>
        </a:solidFill>
      </p:bgPr>
    </p:bg>
    <p:spTree>
      <p:nvGrpSpPr>
        <p:cNvPr id="1" name=""/>
        <p:cNvGrpSpPr/>
        <p:nvPr/>
      </p:nvGrpSpPr>
      <p:grpSpPr>
        <a:xfrm>
          <a:off x="0" y="0"/>
          <a:ext cx="0" cy="0"/>
          <a:chOff x="0" y="0"/>
          <a:chExt cx="0" cy="0"/>
        </a:xfrm>
      </p:grpSpPr>
      <p:pic>
        <p:nvPicPr>
          <p:cNvPr id="2" name="Image 0" descr="Startbild der Fahrer App: Fahrer in Rica-Jacke vor einem Rica-Lkw, darunter die Schritte Auftrag starten, Kunde fahren, Abholen, Entsorgen">    </p:cNvPr>
          <p:cNvPicPr>
            <a:picLocks noChangeAspect="1"/>
          </p:cNvPicPr>
          <p:nvPr/>
        </p:nvPicPr>
        <p:blipFill>
          <a:blip r:embed="rId1"/>
          <a:srcRect l="0" r="0" t="15" b="15"/>
          <a:stretch/>
        </p:blipFill>
        <p:spPr>
          <a:xfrm>
            <a:off x="8331200" y="0"/>
            <a:ext cx="3860800" cy="6858000"/>
          </a:xfrm>
          <a:prstGeom prst="rect">
            <a:avLst/>
          </a:prstGeom>
        </p:spPr>
      </p:pic>
      <p:sp>
        <p:nvSpPr>
          <p:cNvPr id="3" name="Text 0"/>
          <p:cNvSpPr/>
          <p:nvPr/>
        </p:nvSpPr>
        <p:spPr>
          <a:xfrm>
            <a:off x="812800" y="2165350"/>
            <a:ext cx="711606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A8FF"/>
                </a:solidFill>
                <a:latin typeface="Nunito Sans" pitchFamily="34" charset="0"/>
                <a:ea typeface="Nunito Sans" pitchFamily="34" charset="-122"/>
                <a:cs typeface="Nunito Sans" pitchFamily="34" charset="-120"/>
              </a:rPr>
              <a:t>RICA SERVICE GMBH</a:t>
            </a:r>
            <a:endParaRPr lang="en-US" sz="1200" dirty="0"/>
          </a:p>
        </p:txBody>
      </p:sp>
      <p:sp>
        <p:nvSpPr>
          <p:cNvPr id="4" name="Text 1"/>
          <p:cNvSpPr/>
          <p:nvPr>
            <p:ph type="title"/>
          </p:nvPr>
        </p:nvSpPr>
        <p:spPr>
          <a:xfrm>
            <a:off x="812800" y="2581910"/>
            <a:ext cx="7116064"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6FB"/>
                </a:solidFill>
                <a:latin typeface="Montserrat" pitchFamily="34" charset="0"/>
                <a:ea typeface="Montserrat" pitchFamily="34" charset="-122"/>
                <a:cs typeface="Montserrat" pitchFamily="34" charset="-120"/>
              </a:rPr>
              <a:t>Fahrer App</a:t>
            </a:r>
            <a:endParaRPr lang="en-US" sz="6000" dirty="0"/>
          </a:p>
        </p:txBody>
      </p:sp>
      <p:sp>
        <p:nvSpPr>
          <p:cNvPr id="5" name="Text 2"/>
          <p:cNvSpPr/>
          <p:nvPr/>
        </p:nvSpPr>
        <p:spPr>
          <a:xfrm>
            <a:off x="812800" y="3585210"/>
            <a:ext cx="711606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6FB"/>
                </a:solidFill>
                <a:latin typeface="Montserrat" pitchFamily="34" charset="0"/>
                <a:ea typeface="Montserrat" pitchFamily="34" charset="-122"/>
                <a:cs typeface="Montserrat" pitchFamily="34" charset="-120"/>
              </a:rPr>
              <a:t>Dein Arbeitsalltag. Einfacher. Digitaler.</a:t>
            </a:r>
            <a:endParaRPr lang="en-US" sz="2200" dirty="0"/>
          </a:p>
        </p:txBody>
      </p:sp>
      <p:sp>
        <p:nvSpPr>
          <p:cNvPr id="6" name="Text 3"/>
          <p:cNvSpPr/>
          <p:nvPr/>
        </p:nvSpPr>
        <p:spPr>
          <a:xfrm>
            <a:off x="812800" y="4123690"/>
            <a:ext cx="711606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E4"/>
                </a:solidFill>
                <a:latin typeface="Nunito Sans" pitchFamily="34" charset="0"/>
                <a:ea typeface="Nunito Sans" pitchFamily="34" charset="-122"/>
                <a:cs typeface="Nunito Sans" pitchFamily="34" charset="-120"/>
              </a:rPr>
              <a:t>Kontrollen, Werkstatt, Unfallmeldung, Bestellungen und mehr – in einer App, auch ohne Netz.</a:t>
            </a:r>
            <a:endParaRPr lang="en-US" sz="1600" dirty="0"/>
          </a:p>
        </p:txBody>
      </p:sp>
      <p:sp>
        <p:nvSpPr>
          <p:cNvPr id="7" name="Text 4"/>
          <p:cNvSpPr/>
          <p:nvPr/>
        </p:nvSpPr>
        <p:spPr>
          <a:xfrm>
            <a:off x="812800" y="6238240"/>
            <a:ext cx="71160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C8"/>
                </a:solidFill>
                <a:latin typeface="Nunito Sans" pitchFamily="34" charset="0"/>
                <a:ea typeface="Nunito Sans" pitchFamily="34" charset="-122"/>
                <a:cs typeface="Nunito Sans" pitchFamily="34" charset="-120"/>
              </a:rPr>
              <a:t>[Name] · [Datum]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6E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AGENDA</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Was ich heute zeige</a:t>
            </a:r>
            <a:endParaRPr lang="en-US" sz="3600" dirty="0"/>
          </a:p>
        </p:txBody>
      </p:sp>
      <p:sp>
        <p:nvSpPr>
          <p:cNvPr id="4" name="Shape 2"/>
          <p:cNvSpPr/>
          <p:nvPr/>
        </p:nvSpPr>
        <p:spPr>
          <a:xfrm>
            <a:off x="812800" y="1941830"/>
            <a:ext cx="10566400" cy="0"/>
          </a:xfrm>
          <a:prstGeom prst="line">
            <a:avLst/>
          </a:prstGeom>
          <a:noFill/>
          <a:ln w="12700">
            <a:solidFill>
              <a:srgbClr val="C9D5EA"/>
            </a:solidFill>
            <a:prstDash val="solid"/>
          </a:ln>
        </p:spPr>
      </p:sp>
      <p:sp>
        <p:nvSpPr>
          <p:cNvPr id="5" name="Text 3"/>
          <p:cNvSpPr/>
          <p:nvPr/>
        </p:nvSpPr>
        <p:spPr>
          <a:xfrm>
            <a:off x="812800" y="2072640"/>
            <a:ext cx="6604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F5FE0"/>
                </a:solidFill>
                <a:latin typeface="Montserrat" pitchFamily="34" charset="0"/>
                <a:ea typeface="Montserrat" pitchFamily="34" charset="-122"/>
                <a:cs typeface="Montserrat" pitchFamily="34" charset="-120"/>
              </a:rPr>
              <a:t>01</a:t>
            </a:r>
            <a:endParaRPr lang="en-US" sz="2200" dirty="0"/>
          </a:p>
        </p:txBody>
      </p:sp>
      <p:sp>
        <p:nvSpPr>
          <p:cNvPr id="6" name="Text 4"/>
          <p:cNvSpPr/>
          <p:nvPr/>
        </p:nvSpPr>
        <p:spPr>
          <a:xfrm>
            <a:off x="1625600" y="2072640"/>
            <a:ext cx="34010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F4D"/>
                </a:solidFill>
                <a:latin typeface="Montserrat" pitchFamily="34" charset="0"/>
                <a:ea typeface="Montserrat" pitchFamily="34" charset="-122"/>
                <a:cs typeface="Montserrat" pitchFamily="34" charset="-120"/>
              </a:rPr>
              <a:t>Einstieg</a:t>
            </a:r>
            <a:endParaRPr lang="en-US" sz="1600" dirty="0"/>
          </a:p>
        </p:txBody>
      </p:sp>
      <p:sp>
        <p:nvSpPr>
          <p:cNvPr id="7" name="Text 5"/>
          <p:cNvSpPr/>
          <p:nvPr/>
        </p:nvSpPr>
        <p:spPr>
          <a:xfrm>
            <a:off x="5130800" y="2072640"/>
            <a:ext cx="64358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Was die App kann, die Startseite und die Anmeldung</a:t>
            </a:r>
            <a:endParaRPr lang="en-US" sz="1600" dirty="0"/>
          </a:p>
        </p:txBody>
      </p:sp>
      <p:sp>
        <p:nvSpPr>
          <p:cNvPr id="8" name="Shape 6"/>
          <p:cNvSpPr/>
          <p:nvPr/>
        </p:nvSpPr>
        <p:spPr>
          <a:xfrm>
            <a:off x="812800" y="2487930"/>
            <a:ext cx="10566400" cy="0"/>
          </a:xfrm>
          <a:prstGeom prst="line">
            <a:avLst/>
          </a:prstGeom>
          <a:noFill/>
          <a:ln w="12700">
            <a:solidFill>
              <a:srgbClr val="C9D5EA"/>
            </a:solidFill>
            <a:prstDash val="solid"/>
          </a:ln>
        </p:spPr>
      </p:sp>
      <p:sp>
        <p:nvSpPr>
          <p:cNvPr id="9" name="Text 7"/>
          <p:cNvSpPr/>
          <p:nvPr/>
        </p:nvSpPr>
        <p:spPr>
          <a:xfrm>
            <a:off x="812800" y="2618740"/>
            <a:ext cx="6604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F5FE0"/>
                </a:solidFill>
                <a:latin typeface="Montserrat" pitchFamily="34" charset="0"/>
                <a:ea typeface="Montserrat" pitchFamily="34" charset="-122"/>
                <a:cs typeface="Montserrat" pitchFamily="34" charset="-120"/>
              </a:rPr>
              <a:t>02</a:t>
            </a:r>
            <a:endParaRPr lang="en-US" sz="2200" dirty="0"/>
          </a:p>
        </p:txBody>
      </p:sp>
      <p:sp>
        <p:nvSpPr>
          <p:cNvPr id="10" name="Text 8"/>
          <p:cNvSpPr/>
          <p:nvPr/>
        </p:nvSpPr>
        <p:spPr>
          <a:xfrm>
            <a:off x="1625600" y="2618740"/>
            <a:ext cx="34010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F4D"/>
                </a:solidFill>
                <a:latin typeface="Montserrat" pitchFamily="34" charset="0"/>
                <a:ea typeface="Montserrat" pitchFamily="34" charset="-122"/>
                <a:cs typeface="Montserrat" pitchFamily="34" charset="-120"/>
              </a:rPr>
              <a:t>Kontrolle &amp; Werkstatt</a:t>
            </a:r>
            <a:endParaRPr lang="en-US" sz="1600" dirty="0"/>
          </a:p>
        </p:txBody>
      </p:sp>
      <p:sp>
        <p:nvSpPr>
          <p:cNvPr id="11" name="Text 9"/>
          <p:cNvSpPr/>
          <p:nvPr/>
        </p:nvSpPr>
        <p:spPr>
          <a:xfrm>
            <a:off x="5130800" y="2618740"/>
            <a:ext cx="64358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Fahrzeugkontrolle, Sterne-Bewertung, offene Mängel, Werkstatt</a:t>
            </a:r>
            <a:endParaRPr lang="en-US" sz="1600" dirty="0"/>
          </a:p>
        </p:txBody>
      </p:sp>
      <p:sp>
        <p:nvSpPr>
          <p:cNvPr id="12" name="Shape 10"/>
          <p:cNvSpPr/>
          <p:nvPr/>
        </p:nvSpPr>
        <p:spPr>
          <a:xfrm>
            <a:off x="812800" y="3034030"/>
            <a:ext cx="10566400" cy="0"/>
          </a:xfrm>
          <a:prstGeom prst="line">
            <a:avLst/>
          </a:prstGeom>
          <a:noFill/>
          <a:ln w="12700">
            <a:solidFill>
              <a:srgbClr val="C9D5EA"/>
            </a:solidFill>
            <a:prstDash val="solid"/>
          </a:ln>
        </p:spPr>
      </p:sp>
      <p:sp>
        <p:nvSpPr>
          <p:cNvPr id="13" name="Text 11"/>
          <p:cNvSpPr/>
          <p:nvPr/>
        </p:nvSpPr>
        <p:spPr>
          <a:xfrm>
            <a:off x="812800" y="3164840"/>
            <a:ext cx="6604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F5FE0"/>
                </a:solidFill>
                <a:latin typeface="Montserrat" pitchFamily="34" charset="0"/>
                <a:ea typeface="Montserrat" pitchFamily="34" charset="-122"/>
                <a:cs typeface="Montserrat" pitchFamily="34" charset="-120"/>
              </a:rPr>
              <a:t>03</a:t>
            </a:r>
            <a:endParaRPr lang="en-US" sz="2200" dirty="0"/>
          </a:p>
        </p:txBody>
      </p:sp>
      <p:sp>
        <p:nvSpPr>
          <p:cNvPr id="14" name="Text 12"/>
          <p:cNvSpPr/>
          <p:nvPr/>
        </p:nvSpPr>
        <p:spPr>
          <a:xfrm>
            <a:off x="1625600" y="3164840"/>
            <a:ext cx="34010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F4D"/>
                </a:solidFill>
                <a:latin typeface="Montserrat" pitchFamily="34" charset="0"/>
                <a:ea typeface="Montserrat" pitchFamily="34" charset="-122"/>
                <a:cs typeface="Montserrat" pitchFamily="34" charset="-120"/>
              </a:rPr>
              <a:t>Übergabe &amp; Unfall</a:t>
            </a:r>
            <a:endParaRPr lang="en-US" sz="1600" dirty="0"/>
          </a:p>
        </p:txBody>
      </p:sp>
      <p:sp>
        <p:nvSpPr>
          <p:cNvPr id="15" name="Text 13"/>
          <p:cNvSpPr/>
          <p:nvPr/>
        </p:nvSpPr>
        <p:spPr>
          <a:xfrm>
            <a:off x="5130800" y="3164840"/>
            <a:ext cx="64358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Übergabeprotokoll, Unfallmeldung, Unfälle vermeiden</a:t>
            </a:r>
            <a:endParaRPr lang="en-US" sz="1600" dirty="0"/>
          </a:p>
        </p:txBody>
      </p:sp>
      <p:sp>
        <p:nvSpPr>
          <p:cNvPr id="16" name="Shape 14"/>
          <p:cNvSpPr/>
          <p:nvPr/>
        </p:nvSpPr>
        <p:spPr>
          <a:xfrm>
            <a:off x="812800" y="3580130"/>
            <a:ext cx="10566400" cy="0"/>
          </a:xfrm>
          <a:prstGeom prst="line">
            <a:avLst/>
          </a:prstGeom>
          <a:noFill/>
          <a:ln w="12700">
            <a:solidFill>
              <a:srgbClr val="C9D5EA"/>
            </a:solidFill>
            <a:prstDash val="solid"/>
          </a:ln>
        </p:spPr>
      </p:sp>
      <p:sp>
        <p:nvSpPr>
          <p:cNvPr id="17" name="Text 15"/>
          <p:cNvSpPr/>
          <p:nvPr/>
        </p:nvSpPr>
        <p:spPr>
          <a:xfrm>
            <a:off x="812800" y="3710940"/>
            <a:ext cx="6604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F5FE0"/>
                </a:solidFill>
                <a:latin typeface="Montserrat" pitchFamily="34" charset="0"/>
                <a:ea typeface="Montserrat" pitchFamily="34" charset="-122"/>
                <a:cs typeface="Montserrat" pitchFamily="34" charset="-120"/>
              </a:rPr>
              <a:t>04</a:t>
            </a:r>
            <a:endParaRPr lang="en-US" sz="2200" dirty="0"/>
          </a:p>
        </p:txBody>
      </p:sp>
      <p:sp>
        <p:nvSpPr>
          <p:cNvPr id="18" name="Text 16"/>
          <p:cNvSpPr/>
          <p:nvPr/>
        </p:nvSpPr>
        <p:spPr>
          <a:xfrm>
            <a:off x="1625600" y="3710940"/>
            <a:ext cx="34010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F4D"/>
                </a:solidFill>
                <a:latin typeface="Montserrat" pitchFamily="34" charset="0"/>
                <a:ea typeface="Montserrat" pitchFamily="34" charset="-122"/>
                <a:cs typeface="Montserrat" pitchFamily="34" charset="-120"/>
              </a:rPr>
              <a:t>Unterwegs &amp; im Alltag</a:t>
            </a:r>
            <a:endParaRPr lang="en-US" sz="1600" dirty="0"/>
          </a:p>
        </p:txBody>
      </p:sp>
      <p:sp>
        <p:nvSpPr>
          <p:cNvPr id="19" name="Text 17"/>
          <p:cNvSpPr/>
          <p:nvPr/>
        </p:nvSpPr>
        <p:spPr>
          <a:xfrm>
            <a:off x="5130800" y="3710940"/>
            <a:ext cx="64358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Ohne Netz, Mitteilungen, Einstellungen, Spritpreise, Bestellungen</a:t>
            </a:r>
            <a:endParaRPr lang="en-US" sz="1600" dirty="0"/>
          </a:p>
        </p:txBody>
      </p:sp>
      <p:sp>
        <p:nvSpPr>
          <p:cNvPr id="20" name="Shape 18"/>
          <p:cNvSpPr/>
          <p:nvPr/>
        </p:nvSpPr>
        <p:spPr>
          <a:xfrm>
            <a:off x="812800" y="4126230"/>
            <a:ext cx="10566400" cy="0"/>
          </a:xfrm>
          <a:prstGeom prst="line">
            <a:avLst/>
          </a:prstGeom>
          <a:noFill/>
          <a:ln w="12700">
            <a:solidFill>
              <a:srgbClr val="C9D5EA"/>
            </a:solidFill>
            <a:prstDash val="solid"/>
          </a:ln>
        </p:spPr>
      </p:sp>
      <p:sp>
        <p:nvSpPr>
          <p:cNvPr id="21" name="Text 19"/>
          <p:cNvSpPr/>
          <p:nvPr/>
        </p:nvSpPr>
        <p:spPr>
          <a:xfrm>
            <a:off x="812800" y="4257040"/>
            <a:ext cx="6604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F5FE0"/>
                </a:solidFill>
                <a:latin typeface="Montserrat" pitchFamily="34" charset="0"/>
                <a:ea typeface="Montserrat" pitchFamily="34" charset="-122"/>
                <a:cs typeface="Montserrat" pitchFamily="34" charset="-120"/>
              </a:rPr>
              <a:t>05</a:t>
            </a:r>
            <a:endParaRPr lang="en-US" sz="2200" dirty="0"/>
          </a:p>
        </p:txBody>
      </p:sp>
      <p:sp>
        <p:nvSpPr>
          <p:cNvPr id="22" name="Text 20"/>
          <p:cNvSpPr/>
          <p:nvPr/>
        </p:nvSpPr>
        <p:spPr>
          <a:xfrm>
            <a:off x="1625600" y="4257040"/>
            <a:ext cx="34010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F4D"/>
                </a:solidFill>
                <a:latin typeface="Montserrat" pitchFamily="34" charset="0"/>
                <a:ea typeface="Montserrat" pitchFamily="34" charset="-122"/>
                <a:cs typeface="Montserrat" pitchFamily="34" charset="-120"/>
              </a:rPr>
              <a:t>Abschluss</a:t>
            </a:r>
            <a:endParaRPr lang="en-US" sz="1600" dirty="0"/>
          </a:p>
        </p:txBody>
      </p:sp>
      <p:sp>
        <p:nvSpPr>
          <p:cNvPr id="23" name="Text 21"/>
          <p:cNvSpPr/>
          <p:nvPr/>
        </p:nvSpPr>
        <p:spPr>
          <a:xfrm>
            <a:off x="5130800" y="4257040"/>
            <a:ext cx="643585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Unser Anspruch, Fragen und Datenschutz</a:t>
            </a:r>
            <a:endParaRPr lang="en-US" sz="1600" dirty="0"/>
          </a:p>
        </p:txBody>
      </p:sp>
      <p:sp>
        <p:nvSpPr>
          <p:cNvPr id="24" name="Text 22"/>
          <p:cNvSpPr/>
          <p:nvPr/>
        </p:nvSpPr>
        <p:spPr>
          <a:xfrm>
            <a:off x="812800" y="6238241"/>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5" name="Text 23"/>
          <p:cNvSpPr/>
          <p:nvPr/>
        </p:nvSpPr>
        <p:spPr>
          <a:xfrm>
            <a:off x="11236960" y="623824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WORUM ES GEHT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Dein Arbeitsalltag in einer App</a:t>
            </a:r>
            <a:endParaRPr lang="en-US" sz="3600" dirty="0"/>
          </a:p>
        </p:txBody>
      </p:sp>
      <p:sp>
        <p:nvSpPr>
          <p:cNvPr id="4" name="Shape 2"/>
          <p:cNvSpPr/>
          <p:nvPr/>
        </p:nvSpPr>
        <p:spPr>
          <a:xfrm>
            <a:off x="815975" y="1989455"/>
            <a:ext cx="3380264" cy="3119120"/>
          </a:xfrm>
          <a:prstGeom prst="roundRect">
            <a:avLst>
              <a:gd name="adj" fmla="val 4784"/>
            </a:avLst>
          </a:prstGeom>
          <a:solidFill>
            <a:srgbClr val="FBFCFE"/>
          </a:solidFill>
          <a:ln w="6350">
            <a:solidFill>
              <a:srgbClr val="D5DEEE"/>
            </a:solidFill>
            <a:prstDash val="solid"/>
          </a:ln>
        </p:spPr>
      </p:sp>
      <p:sp>
        <p:nvSpPr>
          <p:cNvPr id="5" name="Shape 3"/>
          <p:cNvSpPr/>
          <p:nvPr/>
        </p:nvSpPr>
        <p:spPr>
          <a:xfrm>
            <a:off x="1122680" y="2296161"/>
            <a:ext cx="457200" cy="457200"/>
          </a:xfrm>
          <a:prstGeom prst="roundRect">
            <a:avLst>
              <a:gd name="adj" fmla="val 27778"/>
            </a:avLst>
          </a:prstGeom>
          <a:solidFill>
            <a:srgbClr val="E6EDF8"/>
          </a:solidFill>
          <a:ln/>
        </p:spPr>
      </p:sp>
      <p:pic>
        <p:nvPicPr>
          <p:cNvPr id="6" name="Image 0" descr="Home">    </p:cNvPr>
          <p:cNvPicPr>
            <a:picLocks noChangeAspect="1"/>
          </p:cNvPicPr>
          <p:nvPr/>
        </p:nvPicPr>
        <p:blipFill>
          <a:blip r:embed="rId1"/>
          <a:srcRect l="0" r="0" t="0" b="0"/>
          <a:stretch/>
        </p:blipFill>
        <p:spPr>
          <a:xfrm>
            <a:off x="1224280" y="2397761"/>
            <a:ext cx="254000" cy="254000"/>
          </a:xfrm>
          <a:prstGeom prst="rect">
            <a:avLst/>
          </a:prstGeom>
        </p:spPr>
      </p:pic>
      <p:sp>
        <p:nvSpPr>
          <p:cNvPr id="7" name="Text 4"/>
          <p:cNvSpPr/>
          <p:nvPr/>
        </p:nvSpPr>
        <p:spPr>
          <a:xfrm>
            <a:off x="1122680" y="2905761"/>
            <a:ext cx="3070384"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0E1F4D"/>
                </a:solidFill>
                <a:latin typeface="Montserrat" pitchFamily="34" charset="0"/>
                <a:ea typeface="Montserrat" pitchFamily="34" charset="-122"/>
                <a:cs typeface="Montserrat" pitchFamily="34" charset="-120"/>
              </a:rPr>
              <a:t>Alles an einem Ort</a:t>
            </a:r>
            <a:endParaRPr lang="en-US" sz="2200" dirty="0"/>
          </a:p>
        </p:txBody>
      </p:sp>
      <p:sp>
        <p:nvSpPr>
          <p:cNvPr id="8" name="Text 5"/>
          <p:cNvSpPr/>
          <p:nvPr/>
        </p:nvSpPr>
        <p:spPr>
          <a:xfrm>
            <a:off x="1122680" y="3379470"/>
            <a:ext cx="2849859" cy="1447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Kontrollen, Werkstatt, Unfallmeldungen, Bestellungen und Arbeitsanweisungen – in einer App.</a:t>
            </a:r>
            <a:endParaRPr lang="en-US" sz="1600" dirty="0"/>
          </a:p>
        </p:txBody>
      </p:sp>
      <p:sp>
        <p:nvSpPr>
          <p:cNvPr id="9" name="Shape 6"/>
          <p:cNvSpPr/>
          <p:nvPr/>
        </p:nvSpPr>
        <p:spPr>
          <a:xfrm>
            <a:off x="4405789" y="1989455"/>
            <a:ext cx="3380343" cy="3119120"/>
          </a:xfrm>
          <a:prstGeom prst="roundRect">
            <a:avLst>
              <a:gd name="adj" fmla="val 4784"/>
            </a:avLst>
          </a:prstGeom>
          <a:solidFill>
            <a:srgbClr val="FBFCFE"/>
          </a:solidFill>
          <a:ln w="6350">
            <a:solidFill>
              <a:srgbClr val="D5DEEE"/>
            </a:solidFill>
            <a:prstDash val="solid"/>
          </a:ln>
        </p:spPr>
      </p:sp>
      <p:sp>
        <p:nvSpPr>
          <p:cNvPr id="10" name="Shape 7"/>
          <p:cNvSpPr/>
          <p:nvPr/>
        </p:nvSpPr>
        <p:spPr>
          <a:xfrm>
            <a:off x="4712494" y="2296161"/>
            <a:ext cx="457200" cy="457200"/>
          </a:xfrm>
          <a:prstGeom prst="roundRect">
            <a:avLst>
              <a:gd name="adj" fmla="val 27778"/>
            </a:avLst>
          </a:prstGeom>
          <a:solidFill>
            <a:srgbClr val="E6EDF8"/>
          </a:solidFill>
          <a:ln/>
        </p:spPr>
      </p:sp>
      <p:pic>
        <p:nvPicPr>
          <p:cNvPr id="11" name="Image 1" descr="Globe">    </p:cNvPr>
          <p:cNvPicPr>
            <a:picLocks noChangeAspect="1"/>
          </p:cNvPicPr>
          <p:nvPr/>
        </p:nvPicPr>
        <p:blipFill>
          <a:blip r:embed="rId2"/>
          <a:srcRect l="0" r="0" t="0" b="0"/>
          <a:stretch/>
        </p:blipFill>
        <p:spPr>
          <a:xfrm>
            <a:off x="4814094" y="2397761"/>
            <a:ext cx="254000" cy="254000"/>
          </a:xfrm>
          <a:prstGeom prst="rect">
            <a:avLst/>
          </a:prstGeom>
        </p:spPr>
      </p:pic>
      <p:sp>
        <p:nvSpPr>
          <p:cNvPr id="12" name="Text 8"/>
          <p:cNvSpPr/>
          <p:nvPr/>
        </p:nvSpPr>
        <p:spPr>
          <a:xfrm>
            <a:off x="4712494" y="2905761"/>
            <a:ext cx="2849941"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0E1F4D"/>
                </a:solidFill>
                <a:latin typeface="Montserrat" pitchFamily="34" charset="0"/>
                <a:ea typeface="Montserrat" pitchFamily="34" charset="-122"/>
                <a:cs typeface="Montserrat" pitchFamily="34" charset="-120"/>
              </a:rPr>
              <a:t>Immer dabei</a:t>
            </a:r>
            <a:endParaRPr lang="en-US" sz="2200" dirty="0"/>
          </a:p>
        </p:txBody>
      </p:sp>
      <p:sp>
        <p:nvSpPr>
          <p:cNvPr id="13" name="Text 9"/>
          <p:cNvSpPr/>
          <p:nvPr/>
        </p:nvSpPr>
        <p:spPr>
          <a:xfrm>
            <a:off x="4712494" y="3379470"/>
            <a:ext cx="2849941"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Als Android-App mit Push-Nachrichten oder im Browser – und auch ohne Netz.</a:t>
            </a:r>
            <a:endParaRPr lang="en-US" sz="1600" dirty="0"/>
          </a:p>
        </p:txBody>
      </p:sp>
      <p:sp>
        <p:nvSpPr>
          <p:cNvPr id="14" name="Shape 10"/>
          <p:cNvSpPr/>
          <p:nvPr/>
        </p:nvSpPr>
        <p:spPr>
          <a:xfrm>
            <a:off x="7995682" y="1989455"/>
            <a:ext cx="3380343" cy="3119120"/>
          </a:xfrm>
          <a:prstGeom prst="roundRect">
            <a:avLst>
              <a:gd name="adj" fmla="val 4784"/>
            </a:avLst>
          </a:prstGeom>
          <a:solidFill>
            <a:srgbClr val="FBFCFE"/>
          </a:solidFill>
          <a:ln w="6350">
            <a:solidFill>
              <a:srgbClr val="D5DEEE"/>
            </a:solidFill>
            <a:prstDash val="solid"/>
          </a:ln>
        </p:spPr>
      </p:sp>
      <p:sp>
        <p:nvSpPr>
          <p:cNvPr id="15" name="Shape 11"/>
          <p:cNvSpPr/>
          <p:nvPr/>
        </p:nvSpPr>
        <p:spPr>
          <a:xfrm>
            <a:off x="8302387" y="2296161"/>
            <a:ext cx="457200" cy="457200"/>
          </a:xfrm>
          <a:prstGeom prst="roundRect">
            <a:avLst>
              <a:gd name="adj" fmla="val 27778"/>
            </a:avLst>
          </a:prstGeom>
          <a:solidFill>
            <a:srgbClr val="E6EDF8"/>
          </a:solidFill>
          <a:ln/>
        </p:spPr>
      </p:sp>
      <p:pic>
        <p:nvPicPr>
          <p:cNvPr id="16" name="Image 2" descr="Verified">    </p:cNvPr>
          <p:cNvPicPr>
            <a:picLocks noChangeAspect="1"/>
          </p:cNvPicPr>
          <p:nvPr/>
        </p:nvPicPr>
        <p:blipFill>
          <a:blip r:embed="rId3"/>
          <a:srcRect l="0" r="0" t="0" b="0"/>
          <a:stretch/>
        </p:blipFill>
        <p:spPr>
          <a:xfrm>
            <a:off x="8403987" y="2397761"/>
            <a:ext cx="254000" cy="254000"/>
          </a:xfrm>
          <a:prstGeom prst="rect">
            <a:avLst/>
          </a:prstGeom>
        </p:spPr>
      </p:pic>
      <p:sp>
        <p:nvSpPr>
          <p:cNvPr id="17" name="Text 12"/>
          <p:cNvSpPr/>
          <p:nvPr/>
        </p:nvSpPr>
        <p:spPr>
          <a:xfrm>
            <a:off x="8302387" y="2905761"/>
            <a:ext cx="2849941" cy="66802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0E1F4D"/>
                </a:solidFill>
                <a:latin typeface="Montserrat" pitchFamily="34" charset="0"/>
                <a:ea typeface="Montserrat" pitchFamily="34" charset="-122"/>
                <a:cs typeface="Montserrat" pitchFamily="34" charset="-120"/>
              </a:rPr>
              <a:t>Lückenlos dokumentiert</a:t>
            </a:r>
            <a:endParaRPr lang="en-US" sz="2200" dirty="0"/>
          </a:p>
        </p:txBody>
      </p:sp>
      <p:sp>
        <p:nvSpPr>
          <p:cNvPr id="18" name="Text 13"/>
          <p:cNvSpPr/>
          <p:nvPr/>
        </p:nvSpPr>
        <p:spPr>
          <a:xfrm>
            <a:off x="8302387" y="3700780"/>
            <a:ext cx="2849941"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Fotos mit Zeitstempel, Adresse per GPS, Unterschrift und PDF-Protokoll.</a:t>
            </a:r>
            <a:endParaRPr lang="en-US" sz="1600" dirty="0"/>
          </a:p>
        </p:txBody>
      </p:sp>
      <p:sp>
        <p:nvSpPr>
          <p:cNvPr id="19" name="Text 14"/>
          <p:cNvSpPr/>
          <p:nvPr/>
        </p:nvSpPr>
        <p:spPr>
          <a:xfrm>
            <a:off x="812800" y="6238241"/>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0" name="Text 15"/>
          <p:cNvSpPr/>
          <p:nvPr/>
        </p:nvSpPr>
        <p:spPr>
          <a:xfrm>
            <a:off x="11236960" y="623824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6E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ÜBERBLICK</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Alle Funktionen auf einen Blick</a:t>
            </a:r>
            <a:endParaRPr lang="en-US" sz="3600" dirty="0"/>
          </a:p>
        </p:txBody>
      </p:sp>
      <p:sp>
        <p:nvSpPr>
          <p:cNvPr id="4" name="Shape 2"/>
          <p:cNvSpPr/>
          <p:nvPr/>
        </p:nvSpPr>
        <p:spPr>
          <a:xfrm>
            <a:off x="815975" y="1938655"/>
            <a:ext cx="3448050" cy="783590"/>
          </a:xfrm>
          <a:prstGeom prst="roundRect">
            <a:avLst>
              <a:gd name="adj" fmla="val 15802"/>
            </a:avLst>
          </a:prstGeom>
          <a:solidFill>
            <a:srgbClr val="FBFCFE"/>
          </a:solidFill>
          <a:ln w="6350">
            <a:solidFill>
              <a:srgbClr val="D5DEEE"/>
            </a:solidFill>
            <a:prstDash val="solid"/>
          </a:ln>
        </p:spPr>
      </p:sp>
      <p:sp>
        <p:nvSpPr>
          <p:cNvPr id="5" name="Shape 3"/>
          <p:cNvSpPr/>
          <p:nvPr/>
        </p:nvSpPr>
        <p:spPr>
          <a:xfrm>
            <a:off x="970280" y="2127250"/>
            <a:ext cx="406400" cy="406400"/>
          </a:xfrm>
          <a:prstGeom prst="roundRect">
            <a:avLst>
              <a:gd name="adj" fmla="val 25000"/>
            </a:avLst>
          </a:prstGeom>
          <a:solidFill>
            <a:srgbClr val="E6EDF8"/>
          </a:solidFill>
          <a:ln/>
        </p:spPr>
      </p:sp>
      <p:pic>
        <p:nvPicPr>
          <p:cNvPr id="6" name="Image 0" descr="CheckCircle">    </p:cNvPr>
          <p:cNvPicPr>
            <a:picLocks noChangeAspect="1"/>
          </p:cNvPicPr>
          <p:nvPr/>
        </p:nvPicPr>
        <p:blipFill>
          <a:blip r:embed="rId1"/>
          <a:srcRect l="0" r="0" t="0" b="0"/>
          <a:stretch/>
        </p:blipFill>
        <p:spPr>
          <a:xfrm>
            <a:off x="1059180" y="2216150"/>
            <a:ext cx="228600" cy="228600"/>
          </a:xfrm>
          <a:prstGeom prst="rect">
            <a:avLst/>
          </a:prstGeom>
        </p:spPr>
      </p:pic>
      <p:sp>
        <p:nvSpPr>
          <p:cNvPr id="7" name="Text 4"/>
          <p:cNvSpPr/>
          <p:nvPr/>
        </p:nvSpPr>
        <p:spPr>
          <a:xfrm>
            <a:off x="1503680" y="2092961"/>
            <a:ext cx="227650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Kontrollen</a:t>
            </a:r>
            <a:endParaRPr lang="en-US" sz="1600" dirty="0"/>
          </a:p>
        </p:txBody>
      </p:sp>
      <p:sp>
        <p:nvSpPr>
          <p:cNvPr id="8" name="Text 5"/>
          <p:cNvSpPr/>
          <p:nvPr/>
        </p:nvSpPr>
        <p:spPr>
          <a:xfrm>
            <a:off x="1503680" y="2362200"/>
            <a:ext cx="265223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Fahrzeug prüfen, dokumentieren</a:t>
            </a:r>
            <a:endParaRPr lang="en-US" sz="1200" dirty="0"/>
          </a:p>
        </p:txBody>
      </p:sp>
      <p:sp>
        <p:nvSpPr>
          <p:cNvPr id="9" name="Shape 6"/>
          <p:cNvSpPr/>
          <p:nvPr/>
        </p:nvSpPr>
        <p:spPr>
          <a:xfrm>
            <a:off x="4371975" y="1938655"/>
            <a:ext cx="3448050" cy="783590"/>
          </a:xfrm>
          <a:prstGeom prst="roundRect">
            <a:avLst>
              <a:gd name="adj" fmla="val 15802"/>
            </a:avLst>
          </a:prstGeom>
          <a:solidFill>
            <a:srgbClr val="FBFCFE"/>
          </a:solidFill>
          <a:ln w="6350">
            <a:solidFill>
              <a:srgbClr val="D5DEEE"/>
            </a:solidFill>
            <a:prstDash val="solid"/>
          </a:ln>
        </p:spPr>
      </p:sp>
      <p:sp>
        <p:nvSpPr>
          <p:cNvPr id="10" name="Shape 7"/>
          <p:cNvSpPr/>
          <p:nvPr/>
        </p:nvSpPr>
        <p:spPr>
          <a:xfrm>
            <a:off x="4526280" y="2127250"/>
            <a:ext cx="406400" cy="406400"/>
          </a:xfrm>
          <a:prstGeom prst="roundRect">
            <a:avLst>
              <a:gd name="adj" fmla="val 25000"/>
            </a:avLst>
          </a:prstGeom>
          <a:solidFill>
            <a:srgbClr val="E6EDF8"/>
          </a:solidFill>
          <a:ln/>
        </p:spPr>
      </p:sp>
      <p:pic>
        <p:nvPicPr>
          <p:cNvPr id="11" name="Image 1" descr="Tool">    </p:cNvPr>
          <p:cNvPicPr>
            <a:picLocks noChangeAspect="1"/>
          </p:cNvPicPr>
          <p:nvPr/>
        </p:nvPicPr>
        <p:blipFill>
          <a:blip r:embed="rId2"/>
          <a:srcRect l="0" r="0" t="0" b="0"/>
          <a:stretch/>
        </p:blipFill>
        <p:spPr>
          <a:xfrm>
            <a:off x="4615180" y="2216150"/>
            <a:ext cx="228600" cy="228600"/>
          </a:xfrm>
          <a:prstGeom prst="rect">
            <a:avLst/>
          </a:prstGeom>
        </p:spPr>
      </p:pic>
      <p:sp>
        <p:nvSpPr>
          <p:cNvPr id="12" name="Text 8"/>
          <p:cNvSpPr/>
          <p:nvPr/>
        </p:nvSpPr>
        <p:spPr>
          <a:xfrm>
            <a:off x="5059680" y="2092961"/>
            <a:ext cx="205984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Werkstatt</a:t>
            </a:r>
            <a:endParaRPr lang="en-US" sz="1600" dirty="0"/>
          </a:p>
        </p:txBody>
      </p:sp>
      <p:sp>
        <p:nvSpPr>
          <p:cNvPr id="13" name="Text 9"/>
          <p:cNvSpPr/>
          <p:nvPr/>
        </p:nvSpPr>
        <p:spPr>
          <a:xfrm>
            <a:off x="5059680" y="2362200"/>
            <a:ext cx="239982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Fehler melden, Termin, Route</a:t>
            </a:r>
            <a:endParaRPr lang="en-US" sz="1200" dirty="0"/>
          </a:p>
        </p:txBody>
      </p:sp>
      <p:sp>
        <p:nvSpPr>
          <p:cNvPr id="14" name="Shape 10"/>
          <p:cNvSpPr/>
          <p:nvPr/>
        </p:nvSpPr>
        <p:spPr>
          <a:xfrm>
            <a:off x="7927975" y="1938655"/>
            <a:ext cx="3448050" cy="783590"/>
          </a:xfrm>
          <a:prstGeom prst="roundRect">
            <a:avLst>
              <a:gd name="adj" fmla="val 15802"/>
            </a:avLst>
          </a:prstGeom>
          <a:solidFill>
            <a:srgbClr val="FBFCFE"/>
          </a:solidFill>
          <a:ln w="6350">
            <a:solidFill>
              <a:srgbClr val="D5DEEE"/>
            </a:solidFill>
            <a:prstDash val="solid"/>
          </a:ln>
        </p:spPr>
      </p:sp>
      <p:sp>
        <p:nvSpPr>
          <p:cNvPr id="15" name="Shape 11"/>
          <p:cNvSpPr/>
          <p:nvPr/>
        </p:nvSpPr>
        <p:spPr>
          <a:xfrm>
            <a:off x="8082280" y="2127250"/>
            <a:ext cx="406400" cy="406400"/>
          </a:xfrm>
          <a:prstGeom prst="roundRect">
            <a:avLst>
              <a:gd name="adj" fmla="val 25000"/>
            </a:avLst>
          </a:prstGeom>
          <a:solidFill>
            <a:srgbClr val="E6EDF8"/>
          </a:solidFill>
          <a:ln/>
        </p:spPr>
      </p:sp>
      <p:pic>
        <p:nvPicPr>
          <p:cNvPr id="16" name="Image 2" descr="Wrench">    </p:cNvPr>
          <p:cNvPicPr>
            <a:picLocks noChangeAspect="1"/>
          </p:cNvPicPr>
          <p:nvPr/>
        </p:nvPicPr>
        <p:blipFill>
          <a:blip r:embed="rId3"/>
          <a:srcRect l="0" r="0" t="0" b="0"/>
          <a:stretch/>
        </p:blipFill>
        <p:spPr>
          <a:xfrm>
            <a:off x="8171180" y="2216150"/>
            <a:ext cx="228600" cy="228600"/>
          </a:xfrm>
          <a:prstGeom prst="rect">
            <a:avLst/>
          </a:prstGeom>
        </p:spPr>
      </p:pic>
      <p:sp>
        <p:nvSpPr>
          <p:cNvPr id="17" name="Text 12"/>
          <p:cNvSpPr/>
          <p:nvPr/>
        </p:nvSpPr>
        <p:spPr>
          <a:xfrm>
            <a:off x="8615680" y="2092961"/>
            <a:ext cx="21601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Offene Mängel</a:t>
            </a:r>
            <a:endParaRPr lang="en-US" sz="1600" dirty="0"/>
          </a:p>
        </p:txBody>
      </p:sp>
      <p:sp>
        <p:nvSpPr>
          <p:cNvPr id="18" name="Text 13"/>
          <p:cNvSpPr/>
          <p:nvPr/>
        </p:nvSpPr>
        <p:spPr>
          <a:xfrm>
            <a:off x="8615680" y="2362200"/>
            <a:ext cx="251669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Mängel einsehen und beheben</a:t>
            </a:r>
            <a:endParaRPr lang="en-US" sz="1200" dirty="0"/>
          </a:p>
        </p:txBody>
      </p:sp>
      <p:sp>
        <p:nvSpPr>
          <p:cNvPr id="19" name="Shape 14"/>
          <p:cNvSpPr/>
          <p:nvPr/>
        </p:nvSpPr>
        <p:spPr>
          <a:xfrm>
            <a:off x="815975" y="2830195"/>
            <a:ext cx="3448050" cy="783590"/>
          </a:xfrm>
          <a:prstGeom prst="roundRect">
            <a:avLst>
              <a:gd name="adj" fmla="val 15802"/>
            </a:avLst>
          </a:prstGeom>
          <a:solidFill>
            <a:srgbClr val="FBFCFE"/>
          </a:solidFill>
          <a:ln w="6350">
            <a:solidFill>
              <a:srgbClr val="D5DEEE"/>
            </a:solidFill>
            <a:prstDash val="solid"/>
          </a:ln>
        </p:spPr>
      </p:sp>
      <p:sp>
        <p:nvSpPr>
          <p:cNvPr id="20" name="Shape 15"/>
          <p:cNvSpPr/>
          <p:nvPr/>
        </p:nvSpPr>
        <p:spPr>
          <a:xfrm>
            <a:off x="970280" y="3018791"/>
            <a:ext cx="406400" cy="406400"/>
          </a:xfrm>
          <a:prstGeom prst="roundRect">
            <a:avLst>
              <a:gd name="adj" fmla="val 25000"/>
            </a:avLst>
          </a:prstGeom>
          <a:solidFill>
            <a:srgbClr val="E6EDF8"/>
          </a:solidFill>
          <a:ln/>
        </p:spPr>
      </p:sp>
      <p:pic>
        <p:nvPicPr>
          <p:cNvPr id="21" name="Image 3" descr="Verified">    </p:cNvPr>
          <p:cNvPicPr>
            <a:picLocks noChangeAspect="1"/>
          </p:cNvPicPr>
          <p:nvPr/>
        </p:nvPicPr>
        <p:blipFill>
          <a:blip r:embed="rId4"/>
          <a:srcRect l="0" r="0" t="0" b="0"/>
          <a:stretch/>
        </p:blipFill>
        <p:spPr>
          <a:xfrm>
            <a:off x="1059180" y="3107691"/>
            <a:ext cx="228600" cy="228600"/>
          </a:xfrm>
          <a:prstGeom prst="rect">
            <a:avLst/>
          </a:prstGeom>
        </p:spPr>
      </p:pic>
      <p:sp>
        <p:nvSpPr>
          <p:cNvPr id="22" name="Text 16"/>
          <p:cNvSpPr/>
          <p:nvPr/>
        </p:nvSpPr>
        <p:spPr>
          <a:xfrm>
            <a:off x="1503680" y="2984500"/>
            <a:ext cx="206524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Protokolle</a:t>
            </a:r>
            <a:endParaRPr lang="en-US" sz="1600" dirty="0"/>
          </a:p>
        </p:txBody>
      </p:sp>
      <p:sp>
        <p:nvSpPr>
          <p:cNvPr id="23" name="Text 17"/>
          <p:cNvSpPr/>
          <p:nvPr/>
        </p:nvSpPr>
        <p:spPr>
          <a:xfrm>
            <a:off x="1503680" y="3253741"/>
            <a:ext cx="240611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Übergabeprotokolle erstellen</a:t>
            </a:r>
            <a:endParaRPr lang="en-US" sz="1200" dirty="0"/>
          </a:p>
        </p:txBody>
      </p:sp>
      <p:sp>
        <p:nvSpPr>
          <p:cNvPr id="24" name="Shape 18"/>
          <p:cNvSpPr/>
          <p:nvPr/>
        </p:nvSpPr>
        <p:spPr>
          <a:xfrm>
            <a:off x="4371975" y="2830195"/>
            <a:ext cx="3448050" cy="783590"/>
          </a:xfrm>
          <a:prstGeom prst="roundRect">
            <a:avLst>
              <a:gd name="adj" fmla="val 15802"/>
            </a:avLst>
          </a:prstGeom>
          <a:solidFill>
            <a:srgbClr val="FBFCFE"/>
          </a:solidFill>
          <a:ln w="6350">
            <a:solidFill>
              <a:srgbClr val="D5DEEE"/>
            </a:solidFill>
            <a:prstDash val="solid"/>
          </a:ln>
        </p:spPr>
      </p:sp>
      <p:sp>
        <p:nvSpPr>
          <p:cNvPr id="25" name="Shape 19"/>
          <p:cNvSpPr/>
          <p:nvPr/>
        </p:nvSpPr>
        <p:spPr>
          <a:xfrm>
            <a:off x="4526280" y="3018791"/>
            <a:ext cx="406400" cy="406400"/>
          </a:xfrm>
          <a:prstGeom prst="roundRect">
            <a:avLst>
              <a:gd name="adj" fmla="val 25000"/>
            </a:avLst>
          </a:prstGeom>
          <a:solidFill>
            <a:srgbClr val="E6EDF8"/>
          </a:solidFill>
          <a:ln/>
        </p:spPr>
      </p:sp>
      <p:pic>
        <p:nvPicPr>
          <p:cNvPr id="26" name="Image 4" descr="Warning">    </p:cNvPr>
          <p:cNvPicPr>
            <a:picLocks noChangeAspect="1"/>
          </p:cNvPicPr>
          <p:nvPr/>
        </p:nvPicPr>
        <p:blipFill>
          <a:blip r:embed="rId5"/>
          <a:srcRect l="0" r="0" t="0" b="0"/>
          <a:stretch/>
        </p:blipFill>
        <p:spPr>
          <a:xfrm>
            <a:off x="4615180" y="3107691"/>
            <a:ext cx="228600" cy="228600"/>
          </a:xfrm>
          <a:prstGeom prst="rect">
            <a:avLst/>
          </a:prstGeom>
        </p:spPr>
      </p:pic>
      <p:sp>
        <p:nvSpPr>
          <p:cNvPr id="27" name="Text 20"/>
          <p:cNvSpPr/>
          <p:nvPr/>
        </p:nvSpPr>
        <p:spPr>
          <a:xfrm>
            <a:off x="5059680" y="2984500"/>
            <a:ext cx="176291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Unfallmeldung</a:t>
            </a:r>
            <a:endParaRPr lang="en-US" sz="1600" dirty="0"/>
          </a:p>
        </p:txBody>
      </p:sp>
      <p:sp>
        <p:nvSpPr>
          <p:cNvPr id="28" name="Text 21"/>
          <p:cNvSpPr/>
          <p:nvPr/>
        </p:nvSpPr>
        <p:spPr>
          <a:xfrm>
            <a:off x="5059680" y="3253741"/>
            <a:ext cx="205387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Schritt für Schritt melden</a:t>
            </a:r>
            <a:endParaRPr lang="en-US" sz="1200" dirty="0"/>
          </a:p>
        </p:txBody>
      </p:sp>
      <p:sp>
        <p:nvSpPr>
          <p:cNvPr id="29" name="Shape 22"/>
          <p:cNvSpPr/>
          <p:nvPr/>
        </p:nvSpPr>
        <p:spPr>
          <a:xfrm>
            <a:off x="7927975" y="2830195"/>
            <a:ext cx="3448050" cy="783590"/>
          </a:xfrm>
          <a:prstGeom prst="roundRect">
            <a:avLst>
              <a:gd name="adj" fmla="val 15802"/>
            </a:avLst>
          </a:prstGeom>
          <a:solidFill>
            <a:srgbClr val="FBFCFE"/>
          </a:solidFill>
          <a:ln w="6350">
            <a:solidFill>
              <a:srgbClr val="D5DEEE"/>
            </a:solidFill>
            <a:prstDash val="solid"/>
          </a:ln>
        </p:spPr>
      </p:sp>
      <p:sp>
        <p:nvSpPr>
          <p:cNvPr id="30" name="Shape 23"/>
          <p:cNvSpPr/>
          <p:nvPr/>
        </p:nvSpPr>
        <p:spPr>
          <a:xfrm>
            <a:off x="8082280" y="3018791"/>
            <a:ext cx="406400" cy="406400"/>
          </a:xfrm>
          <a:prstGeom prst="roundRect">
            <a:avLst>
              <a:gd name="adj" fmla="val 25000"/>
            </a:avLst>
          </a:prstGeom>
          <a:solidFill>
            <a:srgbClr val="E6EDF8"/>
          </a:solidFill>
          <a:ln/>
        </p:spPr>
      </p:sp>
      <p:pic>
        <p:nvPicPr>
          <p:cNvPr id="31" name="Image 5" descr="Book">    </p:cNvPr>
          <p:cNvPicPr>
            <a:picLocks noChangeAspect="1"/>
          </p:cNvPicPr>
          <p:nvPr/>
        </p:nvPicPr>
        <p:blipFill>
          <a:blip r:embed="rId6"/>
          <a:srcRect l="0" r="0" t="0" b="0"/>
          <a:stretch/>
        </p:blipFill>
        <p:spPr>
          <a:xfrm>
            <a:off x="8171180" y="3107691"/>
            <a:ext cx="228600" cy="228600"/>
          </a:xfrm>
          <a:prstGeom prst="rect">
            <a:avLst/>
          </a:prstGeom>
        </p:spPr>
      </p:pic>
      <p:sp>
        <p:nvSpPr>
          <p:cNvPr id="32" name="Text 24"/>
          <p:cNvSpPr/>
          <p:nvPr/>
        </p:nvSpPr>
        <p:spPr>
          <a:xfrm>
            <a:off x="8615680" y="2984500"/>
            <a:ext cx="215648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Arbeitsanweisung</a:t>
            </a:r>
            <a:endParaRPr lang="en-US" sz="1600" dirty="0"/>
          </a:p>
        </p:txBody>
      </p:sp>
      <p:sp>
        <p:nvSpPr>
          <p:cNvPr id="33" name="Text 25"/>
          <p:cNvSpPr/>
          <p:nvPr/>
        </p:nvSpPr>
        <p:spPr>
          <a:xfrm>
            <a:off x="8615680" y="3253741"/>
            <a:ext cx="2512409"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Regeln und Abläufe nachlesen</a:t>
            </a:r>
            <a:endParaRPr lang="en-US" sz="1200" dirty="0"/>
          </a:p>
        </p:txBody>
      </p:sp>
      <p:sp>
        <p:nvSpPr>
          <p:cNvPr id="34" name="Shape 26"/>
          <p:cNvSpPr/>
          <p:nvPr/>
        </p:nvSpPr>
        <p:spPr>
          <a:xfrm>
            <a:off x="815975" y="3721736"/>
            <a:ext cx="3448050" cy="783590"/>
          </a:xfrm>
          <a:prstGeom prst="roundRect">
            <a:avLst>
              <a:gd name="adj" fmla="val 15802"/>
            </a:avLst>
          </a:prstGeom>
          <a:solidFill>
            <a:srgbClr val="FBFCFE"/>
          </a:solidFill>
          <a:ln w="6350">
            <a:solidFill>
              <a:srgbClr val="D5DEEE"/>
            </a:solidFill>
            <a:prstDash val="solid"/>
          </a:ln>
        </p:spPr>
      </p:sp>
      <p:sp>
        <p:nvSpPr>
          <p:cNvPr id="35" name="Shape 27"/>
          <p:cNvSpPr/>
          <p:nvPr/>
        </p:nvSpPr>
        <p:spPr>
          <a:xfrm>
            <a:off x="970280" y="3910330"/>
            <a:ext cx="406400" cy="406400"/>
          </a:xfrm>
          <a:prstGeom prst="roundRect">
            <a:avLst>
              <a:gd name="adj" fmla="val 25000"/>
            </a:avLst>
          </a:prstGeom>
          <a:solidFill>
            <a:srgbClr val="E6EDF8"/>
          </a:solidFill>
          <a:ln/>
        </p:spPr>
      </p:sp>
      <p:pic>
        <p:nvPicPr>
          <p:cNvPr id="36" name="Image 6" descr="PaperPlane">    </p:cNvPr>
          <p:cNvPicPr>
            <a:picLocks noChangeAspect="1"/>
          </p:cNvPicPr>
          <p:nvPr/>
        </p:nvPicPr>
        <p:blipFill>
          <a:blip r:embed="rId7"/>
          <a:srcRect l="0" r="0" t="0" b="0"/>
          <a:stretch/>
        </p:blipFill>
        <p:spPr>
          <a:xfrm>
            <a:off x="1059180" y="3999230"/>
            <a:ext cx="228600" cy="228600"/>
          </a:xfrm>
          <a:prstGeom prst="rect">
            <a:avLst/>
          </a:prstGeom>
        </p:spPr>
      </p:pic>
      <p:sp>
        <p:nvSpPr>
          <p:cNvPr id="37" name="Text 28"/>
          <p:cNvSpPr/>
          <p:nvPr/>
        </p:nvSpPr>
        <p:spPr>
          <a:xfrm>
            <a:off x="1503680" y="3876041"/>
            <a:ext cx="21883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Bestellungen</a:t>
            </a:r>
            <a:endParaRPr lang="en-US" sz="1600" dirty="0"/>
          </a:p>
        </p:txBody>
      </p:sp>
      <p:sp>
        <p:nvSpPr>
          <p:cNvPr id="38" name="Text 29"/>
          <p:cNvSpPr/>
          <p:nvPr/>
        </p:nvSpPr>
        <p:spPr>
          <a:xfrm>
            <a:off x="1503680" y="4145280"/>
            <a:ext cx="254955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Säcke, Bänder, Arbeitskleidung</a:t>
            </a:r>
            <a:endParaRPr lang="en-US" sz="1200" dirty="0"/>
          </a:p>
        </p:txBody>
      </p:sp>
      <p:sp>
        <p:nvSpPr>
          <p:cNvPr id="39" name="Shape 30"/>
          <p:cNvSpPr/>
          <p:nvPr/>
        </p:nvSpPr>
        <p:spPr>
          <a:xfrm>
            <a:off x="4371975" y="3721736"/>
            <a:ext cx="3448050" cy="783590"/>
          </a:xfrm>
          <a:prstGeom prst="roundRect">
            <a:avLst>
              <a:gd name="adj" fmla="val 15802"/>
            </a:avLst>
          </a:prstGeom>
          <a:solidFill>
            <a:srgbClr val="FBFCFE"/>
          </a:solidFill>
          <a:ln w="6350">
            <a:solidFill>
              <a:srgbClr val="D5DEEE"/>
            </a:solidFill>
            <a:prstDash val="solid"/>
          </a:ln>
        </p:spPr>
      </p:sp>
      <p:sp>
        <p:nvSpPr>
          <p:cNvPr id="40" name="Shape 31"/>
          <p:cNvSpPr/>
          <p:nvPr/>
        </p:nvSpPr>
        <p:spPr>
          <a:xfrm>
            <a:off x="4526280" y="3910330"/>
            <a:ext cx="406400" cy="406400"/>
          </a:xfrm>
          <a:prstGeom prst="roundRect">
            <a:avLst>
              <a:gd name="adj" fmla="val 25000"/>
            </a:avLst>
          </a:prstGeom>
          <a:solidFill>
            <a:srgbClr val="E6EDF8"/>
          </a:solidFill>
          <a:ln/>
        </p:spPr>
      </p:sp>
      <p:pic>
        <p:nvPicPr>
          <p:cNvPr id="41" name="Image 7" descr="Search">    </p:cNvPr>
          <p:cNvPicPr>
            <a:picLocks noChangeAspect="1"/>
          </p:cNvPicPr>
          <p:nvPr/>
        </p:nvPicPr>
        <p:blipFill>
          <a:blip r:embed="rId8"/>
          <a:srcRect l="0" r="0" t="0" b="0"/>
          <a:stretch/>
        </p:blipFill>
        <p:spPr>
          <a:xfrm>
            <a:off x="4615180" y="3999230"/>
            <a:ext cx="228600" cy="228600"/>
          </a:xfrm>
          <a:prstGeom prst="rect">
            <a:avLst/>
          </a:prstGeom>
        </p:spPr>
      </p:pic>
      <p:sp>
        <p:nvSpPr>
          <p:cNvPr id="42" name="Text 32"/>
          <p:cNvSpPr/>
          <p:nvPr/>
        </p:nvSpPr>
        <p:spPr>
          <a:xfrm>
            <a:off x="5059680" y="3876041"/>
            <a:ext cx="191595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Spritpreise</a:t>
            </a:r>
            <a:endParaRPr lang="en-US" sz="1600" dirty="0"/>
          </a:p>
        </p:txBody>
      </p:sp>
      <p:sp>
        <p:nvSpPr>
          <p:cNvPr id="43" name="Text 33"/>
          <p:cNvSpPr/>
          <p:nvPr/>
        </p:nvSpPr>
        <p:spPr>
          <a:xfrm>
            <a:off x="5059680" y="4145280"/>
            <a:ext cx="223218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Günstig tanken in der Nähe</a:t>
            </a:r>
            <a:endParaRPr lang="en-US" sz="1200" dirty="0"/>
          </a:p>
        </p:txBody>
      </p:sp>
      <p:sp>
        <p:nvSpPr>
          <p:cNvPr id="44" name="Shape 34"/>
          <p:cNvSpPr/>
          <p:nvPr/>
        </p:nvSpPr>
        <p:spPr>
          <a:xfrm>
            <a:off x="7927975" y="3721736"/>
            <a:ext cx="3448050" cy="783590"/>
          </a:xfrm>
          <a:prstGeom prst="roundRect">
            <a:avLst>
              <a:gd name="adj" fmla="val 15802"/>
            </a:avLst>
          </a:prstGeom>
          <a:solidFill>
            <a:srgbClr val="FBFCFE"/>
          </a:solidFill>
          <a:ln w="6350">
            <a:solidFill>
              <a:srgbClr val="D5DEEE"/>
            </a:solidFill>
            <a:prstDash val="solid"/>
          </a:ln>
        </p:spPr>
      </p:sp>
      <p:sp>
        <p:nvSpPr>
          <p:cNvPr id="45" name="Shape 35"/>
          <p:cNvSpPr/>
          <p:nvPr/>
        </p:nvSpPr>
        <p:spPr>
          <a:xfrm>
            <a:off x="8082280" y="3910330"/>
            <a:ext cx="406400" cy="406400"/>
          </a:xfrm>
          <a:prstGeom prst="roundRect">
            <a:avLst>
              <a:gd name="adj" fmla="val 25000"/>
            </a:avLst>
          </a:prstGeom>
          <a:solidFill>
            <a:srgbClr val="E6EDF8"/>
          </a:solidFill>
          <a:ln/>
        </p:spPr>
      </p:sp>
      <p:pic>
        <p:nvPicPr>
          <p:cNvPr id="46" name="Image 8" descr="Database">    </p:cNvPr>
          <p:cNvPicPr>
            <a:picLocks noChangeAspect="1"/>
          </p:cNvPicPr>
          <p:nvPr/>
        </p:nvPicPr>
        <p:blipFill>
          <a:blip r:embed="rId9"/>
          <a:srcRect l="0" r="0" t="0" b="0"/>
          <a:stretch/>
        </p:blipFill>
        <p:spPr>
          <a:xfrm>
            <a:off x="8171180" y="3999230"/>
            <a:ext cx="228600" cy="228600"/>
          </a:xfrm>
          <a:prstGeom prst="rect">
            <a:avLst/>
          </a:prstGeom>
        </p:spPr>
      </p:pic>
      <p:sp>
        <p:nvSpPr>
          <p:cNvPr id="47" name="Text 36"/>
          <p:cNvSpPr/>
          <p:nvPr/>
        </p:nvSpPr>
        <p:spPr>
          <a:xfrm>
            <a:off x="8615680" y="3876041"/>
            <a:ext cx="19210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Bestand</a:t>
            </a:r>
            <a:endParaRPr lang="en-US" sz="1600" dirty="0"/>
          </a:p>
        </p:txBody>
      </p:sp>
      <p:sp>
        <p:nvSpPr>
          <p:cNvPr id="48" name="Text 37"/>
          <p:cNvSpPr/>
          <p:nvPr/>
        </p:nvSpPr>
        <p:spPr>
          <a:xfrm>
            <a:off x="8615680" y="4145280"/>
            <a:ext cx="2238089"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Ausstattung des Fahrzeugs</a:t>
            </a:r>
            <a:endParaRPr lang="en-US" sz="1200" dirty="0"/>
          </a:p>
        </p:txBody>
      </p:sp>
      <p:sp>
        <p:nvSpPr>
          <p:cNvPr id="49" name="Shape 38"/>
          <p:cNvSpPr/>
          <p:nvPr/>
        </p:nvSpPr>
        <p:spPr>
          <a:xfrm>
            <a:off x="815975" y="4613275"/>
            <a:ext cx="3448050" cy="783590"/>
          </a:xfrm>
          <a:prstGeom prst="roundRect">
            <a:avLst>
              <a:gd name="adj" fmla="val 15802"/>
            </a:avLst>
          </a:prstGeom>
          <a:solidFill>
            <a:srgbClr val="FBFCFE"/>
          </a:solidFill>
          <a:ln w="6350">
            <a:solidFill>
              <a:srgbClr val="D5DEEE"/>
            </a:solidFill>
            <a:prstDash val="solid"/>
          </a:ln>
        </p:spPr>
      </p:sp>
      <p:sp>
        <p:nvSpPr>
          <p:cNvPr id="50" name="Shape 39"/>
          <p:cNvSpPr/>
          <p:nvPr/>
        </p:nvSpPr>
        <p:spPr>
          <a:xfrm>
            <a:off x="970280" y="4801870"/>
            <a:ext cx="406400" cy="406400"/>
          </a:xfrm>
          <a:prstGeom prst="roundRect">
            <a:avLst>
              <a:gd name="adj" fmla="val 25000"/>
            </a:avLst>
          </a:prstGeom>
          <a:solidFill>
            <a:srgbClr val="E6EDF8"/>
          </a:solidFill>
          <a:ln/>
        </p:spPr>
      </p:sp>
      <p:pic>
        <p:nvPicPr>
          <p:cNvPr id="51" name="Image 9" descr="Chart">    </p:cNvPr>
          <p:cNvPicPr>
            <a:picLocks noChangeAspect="1"/>
          </p:cNvPicPr>
          <p:nvPr/>
        </p:nvPicPr>
        <p:blipFill>
          <a:blip r:embed="rId10"/>
          <a:srcRect l="0" r="0" t="0" b="0"/>
          <a:stretch/>
        </p:blipFill>
        <p:spPr>
          <a:xfrm>
            <a:off x="1059180" y="4890770"/>
            <a:ext cx="228600" cy="228600"/>
          </a:xfrm>
          <a:prstGeom prst="rect">
            <a:avLst/>
          </a:prstGeom>
        </p:spPr>
      </p:pic>
      <p:sp>
        <p:nvSpPr>
          <p:cNvPr id="52" name="Text 40"/>
          <p:cNvSpPr/>
          <p:nvPr/>
        </p:nvSpPr>
        <p:spPr>
          <a:xfrm>
            <a:off x="1503680" y="4767580"/>
            <a:ext cx="185308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Handkasse</a:t>
            </a:r>
            <a:endParaRPr lang="en-US" sz="1600" dirty="0"/>
          </a:p>
        </p:txBody>
      </p:sp>
      <p:sp>
        <p:nvSpPr>
          <p:cNvPr id="53" name="Text 41"/>
          <p:cNvSpPr/>
          <p:nvPr/>
        </p:nvSpPr>
        <p:spPr>
          <a:xfrm>
            <a:off x="1503680" y="5036820"/>
            <a:ext cx="215893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Handkassenstand im Blick</a:t>
            </a:r>
            <a:endParaRPr lang="en-US" sz="1200" dirty="0"/>
          </a:p>
        </p:txBody>
      </p:sp>
      <p:sp>
        <p:nvSpPr>
          <p:cNvPr id="54" name="Shape 42"/>
          <p:cNvSpPr/>
          <p:nvPr/>
        </p:nvSpPr>
        <p:spPr>
          <a:xfrm>
            <a:off x="4371975" y="4613275"/>
            <a:ext cx="3448050" cy="783590"/>
          </a:xfrm>
          <a:prstGeom prst="roundRect">
            <a:avLst>
              <a:gd name="adj" fmla="val 15802"/>
            </a:avLst>
          </a:prstGeom>
          <a:solidFill>
            <a:srgbClr val="FBFCFE"/>
          </a:solidFill>
          <a:ln w="6350">
            <a:solidFill>
              <a:srgbClr val="D5DEEE"/>
            </a:solidFill>
            <a:prstDash val="solid"/>
          </a:ln>
        </p:spPr>
      </p:sp>
      <p:sp>
        <p:nvSpPr>
          <p:cNvPr id="55" name="Shape 43"/>
          <p:cNvSpPr/>
          <p:nvPr/>
        </p:nvSpPr>
        <p:spPr>
          <a:xfrm>
            <a:off x="4526280" y="4801870"/>
            <a:ext cx="406400" cy="406400"/>
          </a:xfrm>
          <a:prstGeom prst="roundRect">
            <a:avLst>
              <a:gd name="adj" fmla="val 25000"/>
            </a:avLst>
          </a:prstGeom>
          <a:solidFill>
            <a:srgbClr val="E6EDF8"/>
          </a:solidFill>
          <a:ln/>
        </p:spPr>
      </p:sp>
      <p:pic>
        <p:nvPicPr>
          <p:cNvPr id="56" name="Image 10" descr="GraduationCap">    </p:cNvPr>
          <p:cNvPicPr>
            <a:picLocks noChangeAspect="1"/>
          </p:cNvPicPr>
          <p:nvPr/>
        </p:nvPicPr>
        <p:blipFill>
          <a:blip r:embed="rId11"/>
          <a:srcRect l="0" r="0" t="0" b="0"/>
          <a:stretch/>
        </p:blipFill>
        <p:spPr>
          <a:xfrm>
            <a:off x="4615180" y="4890770"/>
            <a:ext cx="228600" cy="228600"/>
          </a:xfrm>
          <a:prstGeom prst="rect">
            <a:avLst/>
          </a:prstGeom>
        </p:spPr>
      </p:pic>
      <p:sp>
        <p:nvSpPr>
          <p:cNvPr id="57" name="Text 44"/>
          <p:cNvSpPr/>
          <p:nvPr/>
        </p:nvSpPr>
        <p:spPr>
          <a:xfrm>
            <a:off x="5059680" y="4767580"/>
            <a:ext cx="19264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Einarbeitung</a:t>
            </a:r>
            <a:endParaRPr lang="en-US" sz="1600" dirty="0"/>
          </a:p>
        </p:txBody>
      </p:sp>
      <p:sp>
        <p:nvSpPr>
          <p:cNvPr id="58" name="Text 45"/>
          <p:cNvSpPr/>
          <p:nvPr/>
        </p:nvSpPr>
        <p:spPr>
          <a:xfrm>
            <a:off x="5059680" y="5036820"/>
            <a:ext cx="2244376"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Einarbeitungsplan für Neue</a:t>
            </a:r>
            <a:endParaRPr lang="en-US" sz="1200" dirty="0"/>
          </a:p>
        </p:txBody>
      </p:sp>
      <p:sp>
        <p:nvSpPr>
          <p:cNvPr id="59" name="Shape 46"/>
          <p:cNvSpPr/>
          <p:nvPr/>
        </p:nvSpPr>
        <p:spPr>
          <a:xfrm>
            <a:off x="7927975" y="4613275"/>
            <a:ext cx="3448050" cy="783590"/>
          </a:xfrm>
          <a:prstGeom prst="roundRect">
            <a:avLst>
              <a:gd name="adj" fmla="val 15802"/>
            </a:avLst>
          </a:prstGeom>
          <a:solidFill>
            <a:srgbClr val="FBFCFE"/>
          </a:solidFill>
          <a:ln w="6350">
            <a:solidFill>
              <a:srgbClr val="D5DEEE"/>
            </a:solidFill>
            <a:prstDash val="solid"/>
          </a:ln>
        </p:spPr>
      </p:sp>
      <p:sp>
        <p:nvSpPr>
          <p:cNvPr id="60" name="Shape 47"/>
          <p:cNvSpPr/>
          <p:nvPr/>
        </p:nvSpPr>
        <p:spPr>
          <a:xfrm>
            <a:off x="8082280" y="4801870"/>
            <a:ext cx="406400" cy="406400"/>
          </a:xfrm>
          <a:prstGeom prst="roundRect">
            <a:avLst>
              <a:gd name="adj" fmla="val 25000"/>
            </a:avLst>
          </a:prstGeom>
          <a:solidFill>
            <a:srgbClr val="E6EDF8"/>
          </a:solidFill>
          <a:ln/>
        </p:spPr>
      </p:sp>
      <p:pic>
        <p:nvPicPr>
          <p:cNvPr id="61" name="Image 11" descr="Settings">    </p:cNvPr>
          <p:cNvPicPr>
            <a:picLocks noChangeAspect="1"/>
          </p:cNvPicPr>
          <p:nvPr/>
        </p:nvPicPr>
        <p:blipFill>
          <a:blip r:embed="rId12"/>
          <a:srcRect l="0" r="0" t="0" b="0"/>
          <a:stretch/>
        </p:blipFill>
        <p:spPr>
          <a:xfrm>
            <a:off x="8171180" y="4890770"/>
            <a:ext cx="228600" cy="228600"/>
          </a:xfrm>
          <a:prstGeom prst="rect">
            <a:avLst/>
          </a:prstGeom>
        </p:spPr>
      </p:pic>
      <p:sp>
        <p:nvSpPr>
          <p:cNvPr id="62" name="Text 48"/>
          <p:cNvSpPr/>
          <p:nvPr/>
        </p:nvSpPr>
        <p:spPr>
          <a:xfrm>
            <a:off x="8615680" y="4767580"/>
            <a:ext cx="186469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Einstellungen</a:t>
            </a:r>
            <a:endParaRPr lang="en-US" sz="1600" dirty="0"/>
          </a:p>
        </p:txBody>
      </p:sp>
      <p:sp>
        <p:nvSpPr>
          <p:cNvPr id="63" name="Text 49"/>
          <p:cNvSpPr/>
          <p:nvPr/>
        </p:nvSpPr>
        <p:spPr>
          <a:xfrm>
            <a:off x="8615680" y="5036820"/>
            <a:ext cx="217246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Profil, Fahrzeug, Kennwort</a:t>
            </a:r>
            <a:endParaRPr lang="en-US" sz="1200" dirty="0"/>
          </a:p>
        </p:txBody>
      </p:sp>
      <p:sp>
        <p:nvSpPr>
          <p:cNvPr id="64" name="Text 50"/>
          <p:cNvSpPr/>
          <p:nvPr/>
        </p:nvSpPr>
        <p:spPr>
          <a:xfrm>
            <a:off x="812800" y="6238239"/>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65" name="Text 51"/>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STARTSEITE</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Alles Wichtige auf einen Blick</a:t>
            </a:r>
            <a:endParaRPr lang="en-US" sz="3600" dirty="0"/>
          </a:p>
        </p:txBody>
      </p:sp>
      <p:sp>
        <p:nvSpPr>
          <p:cNvPr id="4" name="Shape 2"/>
          <p:cNvSpPr/>
          <p:nvPr/>
        </p:nvSpPr>
        <p:spPr>
          <a:xfrm>
            <a:off x="815975" y="1938657"/>
            <a:ext cx="5200650" cy="1217930"/>
          </a:xfrm>
          <a:prstGeom prst="roundRect">
            <a:avLst>
              <a:gd name="adj" fmla="val 12252"/>
            </a:avLst>
          </a:prstGeom>
          <a:solidFill>
            <a:srgbClr val="FBFCFE"/>
          </a:solidFill>
          <a:ln w="6350">
            <a:solidFill>
              <a:srgbClr val="D5DEEE"/>
            </a:solidFill>
            <a:prstDash val="solid"/>
          </a:ln>
        </p:spPr>
      </p:sp>
      <p:sp>
        <p:nvSpPr>
          <p:cNvPr id="5" name="Shape 3"/>
          <p:cNvSpPr/>
          <p:nvPr/>
        </p:nvSpPr>
        <p:spPr>
          <a:xfrm>
            <a:off x="1071880" y="2194561"/>
            <a:ext cx="406400" cy="406400"/>
          </a:xfrm>
          <a:prstGeom prst="roundRect">
            <a:avLst>
              <a:gd name="adj" fmla="val 25000"/>
            </a:avLst>
          </a:prstGeom>
          <a:solidFill>
            <a:srgbClr val="E6EDF8"/>
          </a:solidFill>
          <a:ln/>
        </p:spPr>
      </p:sp>
      <p:pic>
        <p:nvPicPr>
          <p:cNvPr id="6" name="Image 0" descr="Cloud">    </p:cNvPr>
          <p:cNvPicPr>
            <a:picLocks noChangeAspect="1"/>
          </p:cNvPicPr>
          <p:nvPr/>
        </p:nvPicPr>
        <p:blipFill>
          <a:blip r:embed="rId1"/>
          <a:srcRect l="0" r="0" t="0" b="0"/>
          <a:stretch/>
        </p:blipFill>
        <p:spPr>
          <a:xfrm>
            <a:off x="1160780" y="2283461"/>
            <a:ext cx="228600" cy="228600"/>
          </a:xfrm>
          <a:prstGeom prst="rect">
            <a:avLst/>
          </a:prstGeom>
        </p:spPr>
      </p:pic>
      <p:sp>
        <p:nvSpPr>
          <p:cNvPr id="7" name="Text 4"/>
          <p:cNvSpPr/>
          <p:nvPr/>
        </p:nvSpPr>
        <p:spPr>
          <a:xfrm>
            <a:off x="1630680" y="2194561"/>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Wetter am Morgen</a:t>
            </a:r>
            <a:endParaRPr lang="en-US" sz="1600" dirty="0"/>
          </a:p>
        </p:txBody>
      </p:sp>
      <p:sp>
        <p:nvSpPr>
          <p:cNvPr id="8" name="Text 5"/>
          <p:cNvSpPr/>
          <p:nvPr/>
        </p:nvSpPr>
        <p:spPr>
          <a:xfrm>
            <a:off x="1630680" y="2489200"/>
            <a:ext cx="425394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Tiefste Temperatur am Morgen am eigenen Standort – unter 3 °C mit Glätte-Hinweis.</a:t>
            </a:r>
            <a:endParaRPr lang="en-US" sz="1200" dirty="0"/>
          </a:p>
        </p:txBody>
      </p:sp>
      <p:sp>
        <p:nvSpPr>
          <p:cNvPr id="9" name="Shape 6"/>
          <p:cNvSpPr/>
          <p:nvPr/>
        </p:nvSpPr>
        <p:spPr>
          <a:xfrm>
            <a:off x="6175375" y="1938657"/>
            <a:ext cx="5200650" cy="1217930"/>
          </a:xfrm>
          <a:prstGeom prst="roundRect">
            <a:avLst>
              <a:gd name="adj" fmla="val 12252"/>
            </a:avLst>
          </a:prstGeom>
          <a:solidFill>
            <a:srgbClr val="FBFCFE"/>
          </a:solidFill>
          <a:ln w="6350">
            <a:solidFill>
              <a:srgbClr val="D5DEEE"/>
            </a:solidFill>
            <a:prstDash val="solid"/>
          </a:ln>
        </p:spPr>
      </p:sp>
      <p:sp>
        <p:nvSpPr>
          <p:cNvPr id="10" name="Shape 7"/>
          <p:cNvSpPr/>
          <p:nvPr/>
        </p:nvSpPr>
        <p:spPr>
          <a:xfrm>
            <a:off x="6431280" y="2194561"/>
            <a:ext cx="406400" cy="406400"/>
          </a:xfrm>
          <a:prstGeom prst="roundRect">
            <a:avLst>
              <a:gd name="adj" fmla="val 25000"/>
            </a:avLst>
          </a:prstGeom>
          <a:solidFill>
            <a:srgbClr val="E6EDF8"/>
          </a:solidFill>
          <a:ln/>
        </p:spPr>
      </p:sp>
      <p:pic>
        <p:nvPicPr>
          <p:cNvPr id="11" name="Image 1" descr="Star">    </p:cNvPr>
          <p:cNvPicPr>
            <a:picLocks noChangeAspect="1"/>
          </p:cNvPicPr>
          <p:nvPr/>
        </p:nvPicPr>
        <p:blipFill>
          <a:blip r:embed="rId2"/>
          <a:srcRect l="0" r="0" t="0" b="0"/>
          <a:stretch/>
        </p:blipFill>
        <p:spPr>
          <a:xfrm>
            <a:off x="6520180" y="2283461"/>
            <a:ext cx="228600" cy="228600"/>
          </a:xfrm>
          <a:prstGeom prst="rect">
            <a:avLst/>
          </a:prstGeom>
        </p:spPr>
      </p:pic>
      <p:sp>
        <p:nvSpPr>
          <p:cNvPr id="12" name="Text 8"/>
          <p:cNvSpPr/>
          <p:nvPr/>
        </p:nvSpPr>
        <p:spPr>
          <a:xfrm>
            <a:off x="6990080" y="2194561"/>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Meine Bewertung</a:t>
            </a:r>
            <a:endParaRPr lang="en-US" sz="1600" dirty="0"/>
          </a:p>
        </p:txBody>
      </p:sp>
      <p:sp>
        <p:nvSpPr>
          <p:cNvPr id="13" name="Text 9"/>
          <p:cNvSpPr/>
          <p:nvPr/>
        </p:nvSpPr>
        <p:spPr>
          <a:xfrm>
            <a:off x="6990080" y="2489200"/>
            <a:ext cx="425394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Sterne für zuverlässige Kontrollen und der eigene Platz in der Region.</a:t>
            </a:r>
            <a:endParaRPr lang="en-US" sz="1200" dirty="0"/>
          </a:p>
        </p:txBody>
      </p:sp>
      <p:sp>
        <p:nvSpPr>
          <p:cNvPr id="14" name="Shape 10"/>
          <p:cNvSpPr/>
          <p:nvPr/>
        </p:nvSpPr>
        <p:spPr>
          <a:xfrm>
            <a:off x="815975" y="3315336"/>
            <a:ext cx="5200650" cy="1217930"/>
          </a:xfrm>
          <a:prstGeom prst="roundRect">
            <a:avLst>
              <a:gd name="adj" fmla="val 12252"/>
            </a:avLst>
          </a:prstGeom>
          <a:solidFill>
            <a:srgbClr val="FBFCFE"/>
          </a:solidFill>
          <a:ln w="6350">
            <a:solidFill>
              <a:srgbClr val="D5DEEE"/>
            </a:solidFill>
            <a:prstDash val="solid"/>
          </a:ln>
        </p:spPr>
      </p:sp>
      <p:sp>
        <p:nvSpPr>
          <p:cNvPr id="15" name="Shape 11"/>
          <p:cNvSpPr/>
          <p:nvPr/>
        </p:nvSpPr>
        <p:spPr>
          <a:xfrm>
            <a:off x="1071880" y="3571239"/>
            <a:ext cx="406400" cy="406400"/>
          </a:xfrm>
          <a:prstGeom prst="roundRect">
            <a:avLst>
              <a:gd name="adj" fmla="val 25000"/>
            </a:avLst>
          </a:prstGeom>
          <a:solidFill>
            <a:srgbClr val="E6EDF8"/>
          </a:solidFill>
          <a:ln/>
        </p:spPr>
      </p:sp>
      <p:pic>
        <p:nvPicPr>
          <p:cNvPr id="16" name="Image 2" descr="Lightning">    </p:cNvPr>
          <p:cNvPicPr>
            <a:picLocks noChangeAspect="1"/>
          </p:cNvPicPr>
          <p:nvPr/>
        </p:nvPicPr>
        <p:blipFill>
          <a:blip r:embed="rId3"/>
          <a:srcRect l="0" r="0" t="0" b="0"/>
          <a:stretch/>
        </p:blipFill>
        <p:spPr>
          <a:xfrm>
            <a:off x="1160780" y="3660139"/>
            <a:ext cx="228600" cy="228600"/>
          </a:xfrm>
          <a:prstGeom prst="rect">
            <a:avLst/>
          </a:prstGeom>
        </p:spPr>
      </p:pic>
      <p:sp>
        <p:nvSpPr>
          <p:cNvPr id="17" name="Text 12"/>
          <p:cNvSpPr/>
          <p:nvPr/>
        </p:nvSpPr>
        <p:spPr>
          <a:xfrm>
            <a:off x="1630680" y="3571239"/>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Schnellzugriff</a:t>
            </a:r>
            <a:endParaRPr lang="en-US" sz="1600" dirty="0"/>
          </a:p>
        </p:txBody>
      </p:sp>
      <p:sp>
        <p:nvSpPr>
          <p:cNvPr id="18" name="Text 13"/>
          <p:cNvSpPr/>
          <p:nvPr/>
        </p:nvSpPr>
        <p:spPr>
          <a:xfrm>
            <a:off x="1630680" y="3865882"/>
            <a:ext cx="425394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Kontrolle, Übergabe, Bestellung, Unfall und KFZ-Fehlermeldung mit einem Tipp.</a:t>
            </a:r>
            <a:endParaRPr lang="en-US" sz="1200" dirty="0"/>
          </a:p>
        </p:txBody>
      </p:sp>
      <p:sp>
        <p:nvSpPr>
          <p:cNvPr id="19" name="Shape 14"/>
          <p:cNvSpPr/>
          <p:nvPr/>
        </p:nvSpPr>
        <p:spPr>
          <a:xfrm>
            <a:off x="6175375" y="3315336"/>
            <a:ext cx="5200650" cy="1217930"/>
          </a:xfrm>
          <a:prstGeom prst="roundRect">
            <a:avLst>
              <a:gd name="adj" fmla="val 12252"/>
            </a:avLst>
          </a:prstGeom>
          <a:solidFill>
            <a:srgbClr val="FBFCFE"/>
          </a:solidFill>
          <a:ln w="6350">
            <a:solidFill>
              <a:srgbClr val="D5DEEE"/>
            </a:solidFill>
            <a:prstDash val="solid"/>
          </a:ln>
        </p:spPr>
      </p:sp>
      <p:sp>
        <p:nvSpPr>
          <p:cNvPr id="20" name="Shape 15"/>
          <p:cNvSpPr/>
          <p:nvPr/>
        </p:nvSpPr>
        <p:spPr>
          <a:xfrm>
            <a:off x="6431280" y="3571239"/>
            <a:ext cx="406400" cy="406400"/>
          </a:xfrm>
          <a:prstGeom prst="roundRect">
            <a:avLst>
              <a:gd name="adj" fmla="val 25000"/>
            </a:avLst>
          </a:prstGeom>
          <a:solidFill>
            <a:srgbClr val="E6EDF8"/>
          </a:solidFill>
          <a:ln/>
        </p:spPr>
      </p:sp>
      <p:pic>
        <p:nvPicPr>
          <p:cNvPr id="21" name="Image 3" descr="Clock">    </p:cNvPr>
          <p:cNvPicPr>
            <a:picLocks noChangeAspect="1"/>
          </p:cNvPicPr>
          <p:nvPr/>
        </p:nvPicPr>
        <p:blipFill>
          <a:blip r:embed="rId4"/>
          <a:srcRect l="0" r="0" t="0" b="0"/>
          <a:stretch/>
        </p:blipFill>
        <p:spPr>
          <a:xfrm>
            <a:off x="6520180" y="3660139"/>
            <a:ext cx="228600" cy="228600"/>
          </a:xfrm>
          <a:prstGeom prst="rect">
            <a:avLst/>
          </a:prstGeom>
        </p:spPr>
      </p:pic>
      <p:sp>
        <p:nvSpPr>
          <p:cNvPr id="22" name="Text 16"/>
          <p:cNvSpPr/>
          <p:nvPr/>
        </p:nvSpPr>
        <p:spPr>
          <a:xfrm>
            <a:off x="6990080" y="3571239"/>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Weitermachen</a:t>
            </a:r>
            <a:endParaRPr lang="en-US" sz="1600" dirty="0"/>
          </a:p>
        </p:txBody>
      </p:sp>
      <p:sp>
        <p:nvSpPr>
          <p:cNvPr id="23" name="Text 17"/>
          <p:cNvSpPr/>
          <p:nvPr/>
        </p:nvSpPr>
        <p:spPr>
          <a:xfrm>
            <a:off x="6990080" y="3865882"/>
            <a:ext cx="425394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Angefangene Vorgänge stehen oben und lassen sich mit einem Tipp fortsetzen.</a:t>
            </a:r>
            <a:endParaRPr lang="en-US" sz="1200" dirty="0"/>
          </a:p>
        </p:txBody>
      </p:sp>
      <p:sp>
        <p:nvSpPr>
          <p:cNvPr id="24" name="Shape 18"/>
          <p:cNvSpPr/>
          <p:nvPr/>
        </p:nvSpPr>
        <p:spPr>
          <a:xfrm>
            <a:off x="812800" y="4841239"/>
            <a:ext cx="10566400" cy="660400"/>
          </a:xfrm>
          <a:prstGeom prst="roundRect">
            <a:avLst>
              <a:gd name="adj" fmla="val 23077"/>
            </a:avLst>
          </a:prstGeom>
          <a:solidFill>
            <a:srgbClr val="0E1F4D"/>
          </a:solidFill>
          <a:ln/>
        </p:spPr>
      </p:sp>
      <p:pic>
        <p:nvPicPr>
          <p:cNvPr id="25" name="Image 4" descr="Chat">    </p:cNvPr>
          <p:cNvPicPr>
            <a:picLocks noChangeAspect="1"/>
          </p:cNvPicPr>
          <p:nvPr/>
        </p:nvPicPr>
        <p:blipFill>
          <a:blip r:embed="rId5"/>
          <a:srcRect l="0" r="0" t="0" b="0"/>
          <a:stretch/>
        </p:blipFill>
        <p:spPr>
          <a:xfrm>
            <a:off x="1066800" y="5019039"/>
            <a:ext cx="304800" cy="304800"/>
          </a:xfrm>
          <a:prstGeom prst="rect">
            <a:avLst/>
          </a:prstGeom>
        </p:spPr>
      </p:pic>
      <p:sp>
        <p:nvSpPr>
          <p:cNvPr id="26" name="Text 19"/>
          <p:cNvSpPr/>
          <p:nvPr/>
        </p:nvSpPr>
        <p:spPr>
          <a:xfrm>
            <a:off x="1524000" y="5029200"/>
            <a:ext cx="892149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Beim Öffnen erscheinen neue Mitteilungen und Erinnerungen – bestätigt mit „OK“.</a:t>
            </a:r>
            <a:endParaRPr lang="en-US" sz="1600" dirty="0"/>
          </a:p>
        </p:txBody>
      </p:sp>
      <p:sp>
        <p:nvSpPr>
          <p:cNvPr id="27" name="Text 20"/>
          <p:cNvSpPr/>
          <p:nvPr/>
        </p:nvSpPr>
        <p:spPr>
          <a:xfrm>
            <a:off x="812800" y="6238239"/>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8" name="Text 21"/>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6E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ERSTE SCHRITTE</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Einladen, anmelden, loslegen</a:t>
            </a:r>
            <a:endParaRPr lang="en-US" sz="3600" dirty="0"/>
          </a:p>
        </p:txBody>
      </p:sp>
      <p:sp>
        <p:nvSpPr>
          <p:cNvPr id="4" name="Shape 2"/>
          <p:cNvSpPr/>
          <p:nvPr/>
        </p:nvSpPr>
        <p:spPr>
          <a:xfrm>
            <a:off x="815975" y="1938657"/>
            <a:ext cx="3041650" cy="2503170"/>
          </a:xfrm>
          <a:prstGeom prst="roundRect">
            <a:avLst>
              <a:gd name="adj" fmla="val 5961"/>
            </a:avLst>
          </a:prstGeom>
          <a:solidFill>
            <a:srgbClr val="FBFCFE"/>
          </a:solidFill>
          <a:ln w="6350">
            <a:solidFill>
              <a:srgbClr val="D5DEEE"/>
            </a:solidFill>
            <a:prstDash val="solid"/>
          </a:ln>
        </p:spPr>
      </p:sp>
      <p:sp>
        <p:nvSpPr>
          <p:cNvPr id="5" name="Text 3"/>
          <p:cNvSpPr/>
          <p:nvPr/>
        </p:nvSpPr>
        <p:spPr>
          <a:xfrm>
            <a:off x="1046480" y="2169161"/>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1</a:t>
            </a:r>
            <a:endParaRPr lang="en-US" sz="1600" dirty="0"/>
          </a:p>
        </p:txBody>
      </p:sp>
      <p:sp>
        <p:nvSpPr>
          <p:cNvPr id="6" name="Text 4"/>
          <p:cNvSpPr/>
          <p:nvPr/>
        </p:nvSpPr>
        <p:spPr>
          <a:xfrm>
            <a:off x="1046480" y="2702561"/>
            <a:ext cx="265805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Einladung</a:t>
            </a:r>
            <a:endParaRPr lang="en-US" sz="1600" dirty="0"/>
          </a:p>
        </p:txBody>
      </p:sp>
      <p:sp>
        <p:nvSpPr>
          <p:cNvPr id="7" name="Text 5"/>
          <p:cNvSpPr/>
          <p:nvPr/>
        </p:nvSpPr>
        <p:spPr>
          <a:xfrm>
            <a:off x="1046480" y="3073400"/>
            <a:ext cx="265805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Der Regionalleiter schickt einen sicheren, zeitlich begrenzten Link per E-Mail.</a:t>
            </a:r>
            <a:endParaRPr lang="en-US" sz="1600" dirty="0"/>
          </a:p>
        </p:txBody>
      </p:sp>
      <p:pic>
        <p:nvPicPr>
          <p:cNvPr id="8" name="Image 0" descr="arrow-right">    </p:cNvPr>
          <p:cNvPicPr>
            <a:picLocks noChangeAspect="1"/>
          </p:cNvPicPr>
          <p:nvPr/>
        </p:nvPicPr>
        <p:blipFill>
          <a:blip r:embed="rId1"/>
          <a:srcRect l="0" r="0" t="0" b="0"/>
          <a:stretch/>
        </p:blipFill>
        <p:spPr>
          <a:xfrm>
            <a:off x="4013200" y="3088639"/>
            <a:ext cx="406400" cy="203200"/>
          </a:xfrm>
          <a:prstGeom prst="rect">
            <a:avLst/>
          </a:prstGeom>
        </p:spPr>
      </p:pic>
      <p:sp>
        <p:nvSpPr>
          <p:cNvPr id="9" name="Shape 6"/>
          <p:cNvSpPr/>
          <p:nvPr/>
        </p:nvSpPr>
        <p:spPr>
          <a:xfrm>
            <a:off x="4575175" y="1938657"/>
            <a:ext cx="3041650" cy="2503170"/>
          </a:xfrm>
          <a:prstGeom prst="roundRect">
            <a:avLst>
              <a:gd name="adj" fmla="val 5961"/>
            </a:avLst>
          </a:prstGeom>
          <a:solidFill>
            <a:srgbClr val="FBFCFE"/>
          </a:solidFill>
          <a:ln w="6350">
            <a:solidFill>
              <a:srgbClr val="D5DEEE"/>
            </a:solidFill>
            <a:prstDash val="solid"/>
          </a:ln>
        </p:spPr>
      </p:sp>
      <p:sp>
        <p:nvSpPr>
          <p:cNvPr id="10" name="Text 7"/>
          <p:cNvSpPr/>
          <p:nvPr/>
        </p:nvSpPr>
        <p:spPr>
          <a:xfrm>
            <a:off x="4805680" y="2169161"/>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2</a:t>
            </a:r>
            <a:endParaRPr lang="en-US" sz="1600" dirty="0"/>
          </a:p>
        </p:txBody>
      </p:sp>
      <p:sp>
        <p:nvSpPr>
          <p:cNvPr id="11" name="Text 8"/>
          <p:cNvSpPr/>
          <p:nvPr/>
        </p:nvSpPr>
        <p:spPr>
          <a:xfrm>
            <a:off x="4805680" y="2702561"/>
            <a:ext cx="265805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Kennwort &amp; Code</a:t>
            </a:r>
            <a:endParaRPr lang="en-US" sz="1600" dirty="0"/>
          </a:p>
        </p:txBody>
      </p:sp>
      <p:sp>
        <p:nvSpPr>
          <p:cNvPr id="12" name="Text 9"/>
          <p:cNvSpPr/>
          <p:nvPr/>
        </p:nvSpPr>
        <p:spPr>
          <a:xfrm>
            <a:off x="4805680" y="3073400"/>
            <a:ext cx="2658059"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Eigenes Kennwort festlegen (mindestens 8 Zeichen) und die E-Mail mit einem Code bestätigen.</a:t>
            </a:r>
            <a:endParaRPr lang="en-US" sz="1600" dirty="0"/>
          </a:p>
        </p:txBody>
      </p:sp>
      <p:pic>
        <p:nvPicPr>
          <p:cNvPr id="13" name="Image 1" descr="arrow-right">    </p:cNvPr>
          <p:cNvPicPr>
            <a:picLocks noChangeAspect="1"/>
          </p:cNvPicPr>
          <p:nvPr/>
        </p:nvPicPr>
        <p:blipFill>
          <a:blip r:embed="rId2"/>
          <a:srcRect l="0" r="0" t="0" b="0"/>
          <a:stretch/>
        </p:blipFill>
        <p:spPr>
          <a:xfrm>
            <a:off x="7772400" y="3088639"/>
            <a:ext cx="406400" cy="203200"/>
          </a:xfrm>
          <a:prstGeom prst="rect">
            <a:avLst/>
          </a:prstGeom>
        </p:spPr>
      </p:pic>
      <p:sp>
        <p:nvSpPr>
          <p:cNvPr id="14" name="Shape 10"/>
          <p:cNvSpPr/>
          <p:nvPr/>
        </p:nvSpPr>
        <p:spPr>
          <a:xfrm>
            <a:off x="8334375" y="1938657"/>
            <a:ext cx="3041650" cy="2503170"/>
          </a:xfrm>
          <a:prstGeom prst="roundRect">
            <a:avLst>
              <a:gd name="adj" fmla="val 5961"/>
            </a:avLst>
          </a:prstGeom>
          <a:solidFill>
            <a:srgbClr val="FBFCFE"/>
          </a:solidFill>
          <a:ln w="6350">
            <a:solidFill>
              <a:srgbClr val="D5DEEE"/>
            </a:solidFill>
            <a:prstDash val="solid"/>
          </a:ln>
        </p:spPr>
      </p:sp>
      <p:sp>
        <p:nvSpPr>
          <p:cNvPr id="15" name="Text 11"/>
          <p:cNvSpPr/>
          <p:nvPr/>
        </p:nvSpPr>
        <p:spPr>
          <a:xfrm>
            <a:off x="8564880" y="2169161"/>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3</a:t>
            </a:r>
            <a:endParaRPr lang="en-US" sz="1600" dirty="0"/>
          </a:p>
        </p:txBody>
      </p:sp>
      <p:sp>
        <p:nvSpPr>
          <p:cNvPr id="16" name="Text 12"/>
          <p:cNvSpPr/>
          <p:nvPr/>
        </p:nvSpPr>
        <p:spPr>
          <a:xfrm>
            <a:off x="8564880" y="2702561"/>
            <a:ext cx="265805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Loslegen</a:t>
            </a:r>
            <a:endParaRPr lang="en-US" sz="1600" dirty="0"/>
          </a:p>
        </p:txBody>
      </p:sp>
      <p:sp>
        <p:nvSpPr>
          <p:cNvPr id="17" name="Text 13"/>
          <p:cNvSpPr/>
          <p:nvPr/>
        </p:nvSpPr>
        <p:spPr>
          <a:xfrm>
            <a:off x="8564880" y="3073400"/>
            <a:ext cx="265805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Name, Region und Fahrzeug sind schon eingetragen – die App ist sofort startklar.</a:t>
            </a:r>
            <a:endParaRPr lang="en-US" sz="1600" dirty="0"/>
          </a:p>
        </p:txBody>
      </p:sp>
      <p:sp>
        <p:nvSpPr>
          <p:cNvPr id="18" name="Shape 14"/>
          <p:cNvSpPr/>
          <p:nvPr/>
        </p:nvSpPr>
        <p:spPr>
          <a:xfrm>
            <a:off x="812800" y="4749800"/>
            <a:ext cx="10566400" cy="660400"/>
          </a:xfrm>
          <a:prstGeom prst="roundRect">
            <a:avLst>
              <a:gd name="adj" fmla="val 23077"/>
            </a:avLst>
          </a:prstGeom>
          <a:solidFill>
            <a:srgbClr val="0E1F4D"/>
          </a:solidFill>
          <a:ln/>
        </p:spPr>
      </p:sp>
      <p:pic>
        <p:nvPicPr>
          <p:cNvPr id="19" name="Image 2" descr="Key">    </p:cNvPr>
          <p:cNvPicPr>
            <a:picLocks noChangeAspect="1"/>
          </p:cNvPicPr>
          <p:nvPr/>
        </p:nvPicPr>
        <p:blipFill>
          <a:blip r:embed="rId3"/>
          <a:srcRect l="0" r="0" t="0" b="0"/>
          <a:stretch/>
        </p:blipFill>
        <p:spPr>
          <a:xfrm>
            <a:off x="1066800" y="4927600"/>
            <a:ext cx="304800" cy="304800"/>
          </a:xfrm>
          <a:prstGeom prst="rect">
            <a:avLst/>
          </a:prstGeom>
        </p:spPr>
      </p:pic>
      <p:sp>
        <p:nvSpPr>
          <p:cNvPr id="20" name="Text 15"/>
          <p:cNvSpPr/>
          <p:nvPr/>
        </p:nvSpPr>
        <p:spPr>
          <a:xfrm>
            <a:off x="1524000" y="4937761"/>
            <a:ext cx="749169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Angemeldet bleibt man, bis man sich abmeldet – auch ohne Internet.</a:t>
            </a:r>
            <a:endParaRPr lang="en-US" sz="1600" dirty="0"/>
          </a:p>
        </p:txBody>
      </p:sp>
      <p:sp>
        <p:nvSpPr>
          <p:cNvPr id="21" name="Text 16"/>
          <p:cNvSpPr/>
          <p:nvPr/>
        </p:nvSpPr>
        <p:spPr>
          <a:xfrm>
            <a:off x="812800" y="6238239"/>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2" name="Text 17"/>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A6B"/>
        </a:solidFill>
      </p:bgPr>
    </p:bg>
    <p:spTree>
      <p:nvGrpSpPr>
        <p:cNvPr id="1" name=""/>
        <p:cNvGrpSpPr/>
        <p:nvPr/>
      </p:nvGrpSpPr>
      <p:grpSpPr>
        <a:xfrm>
          <a:off x="0" y="0"/>
          <a:ext cx="0" cy="0"/>
          <a:chOff x="0" y="0"/>
          <a:chExt cx="0" cy="0"/>
        </a:xfrm>
      </p:grpSpPr>
      <p:pic>
        <p:nvPicPr>
          <p:cNvPr id="2" name="Image 0" descr="Fahrzeugkontrolle – Sicherheit beginnt mit Kontrolle: zwei Rica-Mitarbeiter prüfen einen Kastenwagen mit geöffneter Motorhaube; geprüft, dokumentiert, sicher unterwegs">    </p:cNvPr>
          <p:cNvPicPr>
            <a:picLocks noChangeAspect="1"/>
          </p:cNvPicPr>
          <p:nvPr/>
        </p:nvPicPr>
        <p:blipFill>
          <a:blip r:embed="rId1"/>
          <a:srcRect l="0" r="0" t="0" b="0"/>
          <a:stretch/>
        </p:blipFill>
        <p:spPr>
          <a:xfrm>
            <a:off x="0" y="381000"/>
            <a:ext cx="121920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KONTROLLEN</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Fahrzeugkontrolle in 5 Schritten</a:t>
            </a:r>
            <a:endParaRPr lang="en-US" sz="3600" dirty="0"/>
          </a:p>
        </p:txBody>
      </p:sp>
      <p:sp>
        <p:nvSpPr>
          <p:cNvPr id="4" name="Shape 2"/>
          <p:cNvSpPr/>
          <p:nvPr/>
        </p:nvSpPr>
        <p:spPr>
          <a:xfrm>
            <a:off x="815975" y="1938657"/>
            <a:ext cx="2025650" cy="1985010"/>
          </a:xfrm>
          <a:prstGeom prst="roundRect">
            <a:avLst>
              <a:gd name="adj" fmla="val 7518"/>
            </a:avLst>
          </a:prstGeom>
          <a:solidFill>
            <a:srgbClr val="FBFCFE"/>
          </a:solidFill>
          <a:ln w="6350">
            <a:solidFill>
              <a:srgbClr val="D5DEEE"/>
            </a:solidFill>
            <a:prstDash val="solid"/>
          </a:ln>
        </p:spPr>
      </p:sp>
      <p:sp>
        <p:nvSpPr>
          <p:cNvPr id="5" name="Text 3"/>
          <p:cNvSpPr/>
          <p:nvPr/>
        </p:nvSpPr>
        <p:spPr>
          <a:xfrm>
            <a:off x="970280" y="2092961"/>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1</a:t>
            </a:r>
            <a:endParaRPr lang="en-US" sz="1600" dirty="0"/>
          </a:p>
        </p:txBody>
      </p:sp>
      <p:sp>
        <p:nvSpPr>
          <p:cNvPr id="6" name="Text 4"/>
          <p:cNvSpPr/>
          <p:nvPr/>
        </p:nvSpPr>
        <p:spPr>
          <a:xfrm>
            <a:off x="970280" y="2600961"/>
            <a:ext cx="17685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Fahrzeug</a:t>
            </a:r>
            <a:endParaRPr lang="en-US" sz="1600" dirty="0"/>
          </a:p>
        </p:txBody>
      </p:sp>
      <p:sp>
        <p:nvSpPr>
          <p:cNvPr id="7" name="Text 5"/>
          <p:cNvSpPr/>
          <p:nvPr/>
        </p:nvSpPr>
        <p:spPr>
          <a:xfrm>
            <a:off x="970280" y="2946400"/>
            <a:ext cx="1768551"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Fahrzeug, Kennzeichen, Kilometerstand. Die Adresse kommt automatisch per GPS.</a:t>
            </a:r>
            <a:endParaRPr lang="en-US" sz="1200" dirty="0"/>
          </a:p>
        </p:txBody>
      </p:sp>
      <p:sp>
        <p:nvSpPr>
          <p:cNvPr id="8" name="Shape 6"/>
          <p:cNvSpPr/>
          <p:nvPr/>
        </p:nvSpPr>
        <p:spPr>
          <a:xfrm>
            <a:off x="2949575" y="1938657"/>
            <a:ext cx="2025650" cy="1985010"/>
          </a:xfrm>
          <a:prstGeom prst="roundRect">
            <a:avLst>
              <a:gd name="adj" fmla="val 7518"/>
            </a:avLst>
          </a:prstGeom>
          <a:solidFill>
            <a:srgbClr val="FBFCFE"/>
          </a:solidFill>
          <a:ln w="6350">
            <a:solidFill>
              <a:srgbClr val="D5DEEE"/>
            </a:solidFill>
            <a:prstDash val="solid"/>
          </a:ln>
        </p:spPr>
      </p:sp>
      <p:sp>
        <p:nvSpPr>
          <p:cNvPr id="9" name="Text 7"/>
          <p:cNvSpPr/>
          <p:nvPr/>
        </p:nvSpPr>
        <p:spPr>
          <a:xfrm>
            <a:off x="3103880" y="2092961"/>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2</a:t>
            </a:r>
            <a:endParaRPr lang="en-US" sz="1600" dirty="0"/>
          </a:p>
        </p:txBody>
      </p:sp>
      <p:sp>
        <p:nvSpPr>
          <p:cNvPr id="10" name="Text 8"/>
          <p:cNvSpPr/>
          <p:nvPr/>
        </p:nvSpPr>
        <p:spPr>
          <a:xfrm>
            <a:off x="3103880" y="2600961"/>
            <a:ext cx="17685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Fotos je Punkt</a:t>
            </a:r>
            <a:endParaRPr lang="en-US" sz="1600" dirty="0"/>
          </a:p>
        </p:txBody>
      </p:sp>
      <p:sp>
        <p:nvSpPr>
          <p:cNvPr id="11" name="Text 9"/>
          <p:cNvSpPr/>
          <p:nvPr/>
        </p:nvSpPr>
        <p:spPr>
          <a:xfrm>
            <a:off x="3103880" y="2946400"/>
            <a:ext cx="1768551"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Bei jedem der 18 Punkte mindestens ein Foto, bis zu 10. Punkt 18 nur bei Bedarf.</a:t>
            </a:r>
            <a:endParaRPr lang="en-US" sz="1200" dirty="0"/>
          </a:p>
        </p:txBody>
      </p:sp>
      <p:sp>
        <p:nvSpPr>
          <p:cNvPr id="12" name="Shape 10"/>
          <p:cNvSpPr/>
          <p:nvPr/>
        </p:nvSpPr>
        <p:spPr>
          <a:xfrm>
            <a:off x="5083175" y="1938657"/>
            <a:ext cx="2025650" cy="1985010"/>
          </a:xfrm>
          <a:prstGeom prst="roundRect">
            <a:avLst>
              <a:gd name="adj" fmla="val 7518"/>
            </a:avLst>
          </a:prstGeom>
          <a:solidFill>
            <a:srgbClr val="FBFCFE"/>
          </a:solidFill>
          <a:ln w="6350">
            <a:solidFill>
              <a:srgbClr val="D5DEEE"/>
            </a:solidFill>
            <a:prstDash val="solid"/>
          </a:ln>
        </p:spPr>
      </p:sp>
      <p:sp>
        <p:nvSpPr>
          <p:cNvPr id="13" name="Text 11"/>
          <p:cNvSpPr/>
          <p:nvPr/>
        </p:nvSpPr>
        <p:spPr>
          <a:xfrm>
            <a:off x="5237480" y="2092961"/>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3</a:t>
            </a:r>
            <a:endParaRPr lang="en-US" sz="1600" dirty="0"/>
          </a:p>
        </p:txBody>
      </p:sp>
      <p:sp>
        <p:nvSpPr>
          <p:cNvPr id="14" name="Text 12"/>
          <p:cNvSpPr/>
          <p:nvPr/>
        </p:nvSpPr>
        <p:spPr>
          <a:xfrm>
            <a:off x="5237480" y="2600961"/>
            <a:ext cx="17685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Bemerkungen</a:t>
            </a:r>
            <a:endParaRPr lang="en-US" sz="1600" dirty="0"/>
          </a:p>
        </p:txBody>
      </p:sp>
      <p:sp>
        <p:nvSpPr>
          <p:cNvPr id="15" name="Text 13"/>
          <p:cNvSpPr/>
          <p:nvPr/>
        </p:nvSpPr>
        <p:spPr>
          <a:xfrm>
            <a:off x="5237480" y="2946400"/>
            <a:ext cx="1768551"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Optional, auch ein Video bis 3 Minuten. Der Stand wird laufend gesichert.</a:t>
            </a:r>
            <a:endParaRPr lang="en-US" sz="1200" dirty="0"/>
          </a:p>
        </p:txBody>
      </p:sp>
      <p:sp>
        <p:nvSpPr>
          <p:cNvPr id="16" name="Shape 14"/>
          <p:cNvSpPr/>
          <p:nvPr/>
        </p:nvSpPr>
        <p:spPr>
          <a:xfrm>
            <a:off x="7216775" y="1938657"/>
            <a:ext cx="2025650" cy="1985010"/>
          </a:xfrm>
          <a:prstGeom prst="roundRect">
            <a:avLst>
              <a:gd name="adj" fmla="val 7518"/>
            </a:avLst>
          </a:prstGeom>
          <a:solidFill>
            <a:srgbClr val="FBFCFE"/>
          </a:solidFill>
          <a:ln w="6350">
            <a:solidFill>
              <a:srgbClr val="D5DEEE"/>
            </a:solidFill>
            <a:prstDash val="solid"/>
          </a:ln>
        </p:spPr>
      </p:sp>
      <p:sp>
        <p:nvSpPr>
          <p:cNvPr id="17" name="Text 15"/>
          <p:cNvSpPr/>
          <p:nvPr/>
        </p:nvSpPr>
        <p:spPr>
          <a:xfrm>
            <a:off x="7371080" y="2092961"/>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4</a:t>
            </a:r>
            <a:endParaRPr lang="en-US" sz="1600" dirty="0"/>
          </a:p>
        </p:txBody>
      </p:sp>
      <p:sp>
        <p:nvSpPr>
          <p:cNvPr id="18" name="Text 16"/>
          <p:cNvSpPr/>
          <p:nvPr/>
        </p:nvSpPr>
        <p:spPr>
          <a:xfrm>
            <a:off x="7371080" y="2600961"/>
            <a:ext cx="17685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Unterschrift</a:t>
            </a:r>
            <a:endParaRPr lang="en-US" sz="1600" dirty="0"/>
          </a:p>
        </p:txBody>
      </p:sp>
      <p:sp>
        <p:nvSpPr>
          <p:cNvPr id="19" name="Text 17"/>
          <p:cNvSpPr/>
          <p:nvPr/>
        </p:nvSpPr>
        <p:spPr>
          <a:xfrm>
            <a:off x="7371080" y="2946400"/>
            <a:ext cx="1768551"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Zusammenfassung prüfen und mit dem Finger unterschreiben.</a:t>
            </a:r>
            <a:endParaRPr lang="en-US" sz="1200" dirty="0"/>
          </a:p>
        </p:txBody>
      </p:sp>
      <p:sp>
        <p:nvSpPr>
          <p:cNvPr id="20" name="Shape 18"/>
          <p:cNvSpPr/>
          <p:nvPr/>
        </p:nvSpPr>
        <p:spPr>
          <a:xfrm>
            <a:off x="9350375" y="1938657"/>
            <a:ext cx="2025650" cy="1985010"/>
          </a:xfrm>
          <a:prstGeom prst="roundRect">
            <a:avLst>
              <a:gd name="adj" fmla="val 7518"/>
            </a:avLst>
          </a:prstGeom>
          <a:solidFill>
            <a:srgbClr val="FBFCFE"/>
          </a:solidFill>
          <a:ln w="6350">
            <a:solidFill>
              <a:srgbClr val="D5DEEE"/>
            </a:solidFill>
            <a:prstDash val="solid"/>
          </a:ln>
        </p:spPr>
      </p:sp>
      <p:sp>
        <p:nvSpPr>
          <p:cNvPr id="21" name="Text 19"/>
          <p:cNvSpPr/>
          <p:nvPr/>
        </p:nvSpPr>
        <p:spPr>
          <a:xfrm>
            <a:off x="9504680" y="2092961"/>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5</a:t>
            </a:r>
            <a:endParaRPr lang="en-US" sz="1600" dirty="0"/>
          </a:p>
        </p:txBody>
      </p:sp>
      <p:sp>
        <p:nvSpPr>
          <p:cNvPr id="22" name="Text 20"/>
          <p:cNvSpPr/>
          <p:nvPr/>
        </p:nvSpPr>
        <p:spPr>
          <a:xfrm>
            <a:off x="9504680" y="2600961"/>
            <a:ext cx="17685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Prüfung</a:t>
            </a:r>
            <a:endParaRPr lang="en-US" sz="1600" dirty="0"/>
          </a:p>
        </p:txBody>
      </p:sp>
      <p:sp>
        <p:nvSpPr>
          <p:cNvPr id="23" name="Text 21"/>
          <p:cNvSpPr/>
          <p:nvPr/>
        </p:nvSpPr>
        <p:spPr>
          <a:xfrm>
            <a:off x="9504680" y="2946400"/>
            <a:ext cx="1768551"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Der Regionalleiter bewertet jeden Punkt. Bei Mängeln kommt die Kontrolle zurück.</a:t>
            </a:r>
            <a:endParaRPr lang="en-US" sz="1200" dirty="0"/>
          </a:p>
        </p:txBody>
      </p:sp>
      <p:sp>
        <p:nvSpPr>
          <p:cNvPr id="24" name="Shape 22"/>
          <p:cNvSpPr/>
          <p:nvPr/>
        </p:nvSpPr>
        <p:spPr>
          <a:xfrm>
            <a:off x="812800" y="4231642"/>
            <a:ext cx="10566400" cy="660400"/>
          </a:xfrm>
          <a:prstGeom prst="roundRect">
            <a:avLst>
              <a:gd name="adj" fmla="val 23077"/>
            </a:avLst>
          </a:prstGeom>
          <a:solidFill>
            <a:srgbClr val="0E1F4D"/>
          </a:solidFill>
          <a:ln/>
        </p:spPr>
      </p:sp>
      <p:pic>
        <p:nvPicPr>
          <p:cNvPr id="25" name="Image 0" descr="Clock">    </p:cNvPr>
          <p:cNvPicPr>
            <a:picLocks noChangeAspect="1"/>
          </p:cNvPicPr>
          <p:nvPr/>
        </p:nvPicPr>
        <p:blipFill>
          <a:blip r:embed="rId1"/>
          <a:srcRect l="0" r="0" t="0" b="0"/>
          <a:stretch/>
        </p:blipFill>
        <p:spPr>
          <a:xfrm>
            <a:off x="1066800" y="4409442"/>
            <a:ext cx="304800" cy="304800"/>
          </a:xfrm>
          <a:prstGeom prst="rect">
            <a:avLst/>
          </a:prstGeom>
        </p:spPr>
      </p:pic>
      <p:sp>
        <p:nvSpPr>
          <p:cNvPr id="26" name="Text 23"/>
          <p:cNvSpPr/>
          <p:nvPr/>
        </p:nvSpPr>
        <p:spPr>
          <a:xfrm>
            <a:off x="1524000" y="4419600"/>
            <a:ext cx="801252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Alle 28 Tage fällig – die Erinnerung bestätigt der Fahrer mit „Verstanden“.</a:t>
            </a:r>
            <a:endParaRPr lang="en-US" sz="1600" dirty="0"/>
          </a:p>
        </p:txBody>
      </p:sp>
      <p:sp>
        <p:nvSpPr>
          <p:cNvPr id="27" name="Text 24"/>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8" name="Text 25"/>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KONTROLLEN</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Was geprüft wird</a:t>
            </a:r>
            <a:endParaRPr lang="en-US" sz="3600" dirty="0"/>
          </a:p>
        </p:txBody>
      </p:sp>
      <p:sp>
        <p:nvSpPr>
          <p:cNvPr id="4" name="Text 2"/>
          <p:cNvSpPr/>
          <p:nvPr/>
        </p:nvSpPr>
        <p:spPr>
          <a:xfrm>
            <a:off x="812800" y="1935479"/>
            <a:ext cx="287782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F5FE0"/>
                </a:solidFill>
                <a:latin typeface="Montserrat" pitchFamily="34" charset="0"/>
                <a:ea typeface="Montserrat" pitchFamily="34" charset="-122"/>
                <a:cs typeface="Montserrat" pitchFamily="34" charset="-120"/>
              </a:rPr>
              <a:t>18</a:t>
            </a:r>
            <a:endParaRPr lang="en-US" sz="6000" dirty="0"/>
          </a:p>
        </p:txBody>
      </p:sp>
      <p:sp>
        <p:nvSpPr>
          <p:cNvPr id="5" name="Text 3"/>
          <p:cNvSpPr/>
          <p:nvPr/>
        </p:nvSpPr>
        <p:spPr>
          <a:xfrm>
            <a:off x="812800" y="2799079"/>
            <a:ext cx="2877820"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0E1F4D"/>
                </a:solidFill>
                <a:latin typeface="Montserrat" pitchFamily="34" charset="0"/>
                <a:ea typeface="Montserrat" pitchFamily="34" charset="-122"/>
                <a:cs typeface="Montserrat" pitchFamily="34" charset="-120"/>
              </a:rPr>
              <a:t>Kontrollpunkte</a:t>
            </a:r>
            <a:endParaRPr lang="en-US" sz="2200" dirty="0"/>
          </a:p>
        </p:txBody>
      </p:sp>
      <p:sp>
        <p:nvSpPr>
          <p:cNvPr id="6" name="Text 4"/>
          <p:cNvSpPr/>
          <p:nvPr/>
        </p:nvSpPr>
        <p:spPr>
          <a:xfrm>
            <a:off x="812800" y="3221992"/>
            <a:ext cx="2877820"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Zu jedem Punkt macht der Fahrer ein Foto – Punkt 18 nur bei Bedarf. Bewertet wird vom Regionalleiter.</a:t>
            </a:r>
            <a:endParaRPr lang="en-US" sz="1600" dirty="0"/>
          </a:p>
        </p:txBody>
      </p:sp>
      <p:sp>
        <p:nvSpPr>
          <p:cNvPr id="7" name="Shape 5"/>
          <p:cNvSpPr/>
          <p:nvPr/>
        </p:nvSpPr>
        <p:spPr>
          <a:xfrm>
            <a:off x="3914775" y="1938654"/>
            <a:ext cx="3651250" cy="1746250"/>
          </a:xfrm>
          <a:prstGeom prst="roundRect">
            <a:avLst>
              <a:gd name="adj" fmla="val 8545"/>
            </a:avLst>
          </a:prstGeom>
          <a:solidFill>
            <a:srgbClr val="FBFCFE"/>
          </a:solidFill>
          <a:ln w="6350">
            <a:solidFill>
              <a:srgbClr val="D5DEEE"/>
            </a:solidFill>
            <a:prstDash val="solid"/>
          </a:ln>
        </p:spPr>
      </p:sp>
      <p:sp>
        <p:nvSpPr>
          <p:cNvPr id="8" name="Text 6"/>
          <p:cNvSpPr/>
          <p:nvPr/>
        </p:nvSpPr>
        <p:spPr>
          <a:xfrm>
            <a:off x="4119880" y="2118364"/>
            <a:ext cx="333827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Außen </a:t>
            </a:r>
            <a:r>
              <a:rPr lang="en-US" sz="1600" b="1" dirty="0">
                <a:solidFill>
                  <a:srgbClr val="1F5FE0"/>
                </a:solidFill>
                <a:latin typeface="Montserrat" pitchFamily="34" charset="0"/>
                <a:ea typeface="Montserrat" pitchFamily="34" charset="-122"/>
                <a:cs typeface="Montserrat" pitchFamily="34" charset="-120"/>
              </a:rPr>
              <a:t>· 6</a:t>
            </a:r>
            <a:endParaRPr lang="en-US" sz="1600" dirty="0"/>
          </a:p>
        </p:txBody>
      </p:sp>
      <p:sp>
        <p:nvSpPr>
          <p:cNvPr id="9" name="Text 7"/>
          <p:cNvSpPr/>
          <p:nvPr/>
        </p:nvSpPr>
        <p:spPr>
          <a:xfrm>
            <a:off x="4119880" y="2438400"/>
            <a:ext cx="3338271" cy="878840"/>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Fahrzeug vorne und hinten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Linke und rechte Seite</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Spiegelschaden durch Nichteinklappen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Sauberkeit und Pflege außen</a:t>
            </a:r>
            <a:endParaRPr lang="en-US" sz="1200" dirty="0"/>
          </a:p>
        </p:txBody>
      </p:sp>
      <p:sp>
        <p:nvSpPr>
          <p:cNvPr id="10" name="Shape 8"/>
          <p:cNvSpPr/>
          <p:nvPr/>
        </p:nvSpPr>
        <p:spPr>
          <a:xfrm>
            <a:off x="7724775" y="1938654"/>
            <a:ext cx="3651250" cy="1746250"/>
          </a:xfrm>
          <a:prstGeom prst="roundRect">
            <a:avLst>
              <a:gd name="adj" fmla="val 8545"/>
            </a:avLst>
          </a:prstGeom>
          <a:solidFill>
            <a:srgbClr val="FBFCFE"/>
          </a:solidFill>
          <a:ln w="6350">
            <a:solidFill>
              <a:srgbClr val="D5DEEE"/>
            </a:solidFill>
            <a:prstDash val="solid"/>
          </a:ln>
        </p:spPr>
      </p:sp>
      <p:sp>
        <p:nvSpPr>
          <p:cNvPr id="11" name="Text 9"/>
          <p:cNvSpPr/>
          <p:nvPr/>
        </p:nvSpPr>
        <p:spPr>
          <a:xfrm>
            <a:off x="7929880" y="2118364"/>
            <a:ext cx="333827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Ladung &amp; Technik </a:t>
            </a:r>
            <a:r>
              <a:rPr lang="en-US" sz="1600" b="1" dirty="0">
                <a:solidFill>
                  <a:srgbClr val="1F5FE0"/>
                </a:solidFill>
                <a:latin typeface="Montserrat" pitchFamily="34" charset="0"/>
                <a:ea typeface="Montserrat" pitchFamily="34" charset="-122"/>
                <a:cs typeface="Montserrat" pitchFamily="34" charset="-120"/>
              </a:rPr>
              <a:t>· 5</a:t>
            </a:r>
            <a:endParaRPr lang="en-US" sz="1600" dirty="0"/>
          </a:p>
        </p:txBody>
      </p:sp>
      <p:sp>
        <p:nvSpPr>
          <p:cNvPr id="12" name="Text 10"/>
          <p:cNvSpPr/>
          <p:nvPr/>
        </p:nvSpPr>
        <p:spPr>
          <a:xfrm>
            <a:off x="7929880" y="2438400"/>
            <a:ext cx="3338271" cy="1092200"/>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Reifen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Hebebühne – abgeschmiert</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Ladefläche und Sicherungsmittel</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Bindemittel</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Unterlagen</a:t>
            </a:r>
            <a:endParaRPr lang="en-US" sz="1200" dirty="0"/>
          </a:p>
        </p:txBody>
      </p:sp>
      <p:sp>
        <p:nvSpPr>
          <p:cNvPr id="13" name="Shape 11"/>
          <p:cNvSpPr/>
          <p:nvPr/>
        </p:nvSpPr>
        <p:spPr>
          <a:xfrm>
            <a:off x="3914775" y="3843654"/>
            <a:ext cx="3651250" cy="1532890"/>
          </a:xfrm>
          <a:prstGeom prst="roundRect">
            <a:avLst>
              <a:gd name="adj" fmla="val 9735"/>
            </a:avLst>
          </a:prstGeom>
          <a:solidFill>
            <a:srgbClr val="FBFCFE"/>
          </a:solidFill>
          <a:ln w="6350">
            <a:solidFill>
              <a:srgbClr val="D5DEEE"/>
            </a:solidFill>
            <a:prstDash val="solid"/>
          </a:ln>
        </p:spPr>
      </p:sp>
      <p:sp>
        <p:nvSpPr>
          <p:cNvPr id="14" name="Text 12"/>
          <p:cNvSpPr/>
          <p:nvPr/>
        </p:nvSpPr>
        <p:spPr>
          <a:xfrm>
            <a:off x="4119880" y="4023364"/>
            <a:ext cx="333827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Innenraum </a:t>
            </a:r>
            <a:r>
              <a:rPr lang="en-US" sz="1600" b="1" dirty="0">
                <a:solidFill>
                  <a:srgbClr val="1F5FE0"/>
                </a:solidFill>
                <a:latin typeface="Montserrat" pitchFamily="34" charset="0"/>
                <a:ea typeface="Montserrat" pitchFamily="34" charset="-122"/>
                <a:cs typeface="Montserrat" pitchFamily="34" charset="-120"/>
              </a:rPr>
              <a:t>· 3</a:t>
            </a:r>
            <a:endParaRPr lang="en-US" sz="1600" dirty="0"/>
          </a:p>
        </p:txBody>
      </p:sp>
      <p:sp>
        <p:nvSpPr>
          <p:cNvPr id="15" name="Text 13"/>
          <p:cNvSpPr/>
          <p:nvPr/>
        </p:nvSpPr>
        <p:spPr>
          <a:xfrm>
            <a:off x="4119880" y="4343400"/>
            <a:ext cx="3338271" cy="665480"/>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Sauberkeit der Fahrerkabine</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Tacho / Display / Fehlermeldungen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Verbandkasten / Warndreieck</a:t>
            </a:r>
            <a:endParaRPr lang="en-US" sz="1200" dirty="0"/>
          </a:p>
        </p:txBody>
      </p:sp>
      <p:sp>
        <p:nvSpPr>
          <p:cNvPr id="16" name="Shape 14"/>
          <p:cNvSpPr/>
          <p:nvPr/>
        </p:nvSpPr>
        <p:spPr>
          <a:xfrm>
            <a:off x="7724775" y="3843654"/>
            <a:ext cx="3651250" cy="1532890"/>
          </a:xfrm>
          <a:prstGeom prst="roundRect">
            <a:avLst>
              <a:gd name="adj" fmla="val 9735"/>
            </a:avLst>
          </a:prstGeom>
          <a:solidFill>
            <a:srgbClr val="FBFCFE"/>
          </a:solidFill>
          <a:ln w="6350">
            <a:solidFill>
              <a:srgbClr val="D5DEEE"/>
            </a:solidFill>
            <a:prstDash val="solid"/>
          </a:ln>
        </p:spPr>
      </p:sp>
      <p:sp>
        <p:nvSpPr>
          <p:cNvPr id="17" name="Text 15"/>
          <p:cNvSpPr/>
          <p:nvPr/>
        </p:nvSpPr>
        <p:spPr>
          <a:xfrm>
            <a:off x="7929880" y="4023364"/>
            <a:ext cx="333827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Verhalten </a:t>
            </a:r>
            <a:r>
              <a:rPr lang="en-US" sz="1600" b="1" dirty="0">
                <a:solidFill>
                  <a:srgbClr val="1F5FE0"/>
                </a:solidFill>
                <a:latin typeface="Montserrat" pitchFamily="34" charset="0"/>
                <a:ea typeface="Montserrat" pitchFamily="34" charset="-122"/>
                <a:cs typeface="Montserrat" pitchFamily="34" charset="-120"/>
              </a:rPr>
              <a:t>· 4</a:t>
            </a:r>
            <a:endParaRPr lang="en-US" sz="1600" dirty="0"/>
          </a:p>
        </p:txBody>
      </p:sp>
      <p:sp>
        <p:nvSpPr>
          <p:cNvPr id="18" name="Text 16"/>
          <p:cNvSpPr/>
          <p:nvPr/>
        </p:nvSpPr>
        <p:spPr>
          <a:xfrm>
            <a:off x="7929880" y="4343400"/>
            <a:ext cx="3338271" cy="878840"/>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Sicherheitsschuhe getragen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Vorschriftsmäßige RICA-Arbeitskleidung</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Rauchverbot im Fahrzeug</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Nicht gemeldete Schäden</a:t>
            </a:r>
            <a:endParaRPr lang="en-US" sz="1200" dirty="0"/>
          </a:p>
        </p:txBody>
      </p:sp>
      <p:sp>
        <p:nvSpPr>
          <p:cNvPr id="19" name="Text 17"/>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0" name="Text 18"/>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6E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MEINE BEWERTUNG</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Sterne für zuverlässige Kontrollen</a:t>
            </a:r>
            <a:endParaRPr lang="en-US" sz="3600" dirty="0"/>
          </a:p>
        </p:txBody>
      </p:sp>
      <p:sp>
        <p:nvSpPr>
          <p:cNvPr id="4" name="Shape 2"/>
          <p:cNvSpPr/>
          <p:nvPr/>
        </p:nvSpPr>
        <p:spPr>
          <a:xfrm>
            <a:off x="812800" y="1935479"/>
            <a:ext cx="3556000" cy="2393950"/>
          </a:xfrm>
          <a:prstGeom prst="roundRect">
            <a:avLst>
              <a:gd name="adj" fmla="val 6366"/>
            </a:avLst>
          </a:prstGeom>
          <a:solidFill>
            <a:srgbClr val="0E1F4D"/>
          </a:solidFill>
          <a:ln/>
        </p:spPr>
      </p:sp>
      <p:pic>
        <p:nvPicPr>
          <p:cNvPr id="5" name="Image 0" descr="Star">    </p:cNvPr>
          <p:cNvPicPr>
            <a:picLocks noChangeAspect="1"/>
          </p:cNvPicPr>
          <p:nvPr/>
        </p:nvPicPr>
        <p:blipFill>
          <a:blip r:embed="rId1"/>
          <a:srcRect l="0" r="0" t="0" b="0"/>
          <a:stretch/>
        </p:blipFill>
        <p:spPr>
          <a:xfrm>
            <a:off x="1066800" y="2189479"/>
            <a:ext cx="406400" cy="406400"/>
          </a:xfrm>
          <a:prstGeom prst="rect">
            <a:avLst/>
          </a:prstGeom>
        </p:spPr>
      </p:pic>
      <p:pic>
        <p:nvPicPr>
          <p:cNvPr id="6" name="Image 1" descr="Star">    </p:cNvPr>
          <p:cNvPicPr>
            <a:picLocks noChangeAspect="1"/>
          </p:cNvPicPr>
          <p:nvPr/>
        </p:nvPicPr>
        <p:blipFill>
          <a:blip r:embed="rId2"/>
          <a:srcRect l="0" r="0" t="0" b="0"/>
          <a:stretch/>
        </p:blipFill>
        <p:spPr>
          <a:xfrm>
            <a:off x="1549400" y="2189479"/>
            <a:ext cx="406400" cy="406400"/>
          </a:xfrm>
          <a:prstGeom prst="rect">
            <a:avLst/>
          </a:prstGeom>
        </p:spPr>
      </p:pic>
      <p:pic>
        <p:nvPicPr>
          <p:cNvPr id="7" name="Image 2" descr="Star">    </p:cNvPr>
          <p:cNvPicPr>
            <a:picLocks noChangeAspect="1"/>
          </p:cNvPicPr>
          <p:nvPr/>
        </p:nvPicPr>
        <p:blipFill>
          <a:blip r:embed="rId3"/>
          <a:srcRect l="0" r="0" t="0" b="0"/>
          <a:stretch/>
        </p:blipFill>
        <p:spPr>
          <a:xfrm>
            <a:off x="2032000" y="2189479"/>
            <a:ext cx="406400" cy="406400"/>
          </a:xfrm>
          <a:prstGeom prst="rect">
            <a:avLst/>
          </a:prstGeom>
        </p:spPr>
      </p:pic>
      <p:pic>
        <p:nvPicPr>
          <p:cNvPr id="8" name="Image 3" descr="Star">    </p:cNvPr>
          <p:cNvPicPr>
            <a:picLocks noChangeAspect="1"/>
          </p:cNvPicPr>
          <p:nvPr/>
        </p:nvPicPr>
        <p:blipFill>
          <a:blip r:embed="rId4"/>
          <a:srcRect l="0" r="0" t="0" b="0"/>
          <a:stretch/>
        </p:blipFill>
        <p:spPr>
          <a:xfrm>
            <a:off x="2514600" y="2189479"/>
            <a:ext cx="406400" cy="406400"/>
          </a:xfrm>
          <a:prstGeom prst="rect">
            <a:avLst/>
          </a:prstGeom>
        </p:spPr>
      </p:pic>
      <p:pic>
        <p:nvPicPr>
          <p:cNvPr id="9" name="Image 4" descr="Star">    </p:cNvPr>
          <p:cNvPicPr>
            <a:picLocks noChangeAspect="1"/>
          </p:cNvPicPr>
          <p:nvPr/>
        </p:nvPicPr>
        <p:blipFill>
          <a:blip r:embed="rId5"/>
          <a:srcRect l="0" r="0" t="0" b="0"/>
          <a:stretch/>
        </p:blipFill>
        <p:spPr>
          <a:xfrm>
            <a:off x="2997200" y="2189479"/>
            <a:ext cx="406400" cy="406400"/>
          </a:xfrm>
          <a:prstGeom prst="rect">
            <a:avLst/>
          </a:prstGeom>
        </p:spPr>
      </p:pic>
      <p:sp>
        <p:nvSpPr>
          <p:cNvPr id="10" name="Text 3"/>
          <p:cNvSpPr/>
          <p:nvPr/>
        </p:nvSpPr>
        <p:spPr>
          <a:xfrm>
            <a:off x="1066800" y="2748279"/>
            <a:ext cx="3139440"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3F6FB"/>
                </a:solidFill>
                <a:latin typeface="Montserrat" pitchFamily="34" charset="0"/>
                <a:ea typeface="Montserrat" pitchFamily="34" charset="-122"/>
                <a:cs typeface="Montserrat" pitchFamily="34" charset="-120"/>
              </a:rPr>
              <a:t>1 bis 5 Sterne</a:t>
            </a:r>
            <a:endParaRPr lang="en-US" sz="2200" dirty="0"/>
          </a:p>
        </p:txBody>
      </p:sp>
      <p:sp>
        <p:nvSpPr>
          <p:cNvPr id="11" name="Text 4"/>
          <p:cNvSpPr/>
          <p:nvPr/>
        </p:nvSpPr>
        <p:spPr>
          <a:xfrm>
            <a:off x="1066800" y="3221992"/>
            <a:ext cx="313944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E4"/>
                </a:solidFill>
                <a:latin typeface="Nunito Sans" pitchFamily="34" charset="0"/>
                <a:ea typeface="Nunito Sans" pitchFamily="34" charset="-122"/>
                <a:cs typeface="Nunito Sans" pitchFamily="34" charset="-120"/>
              </a:rPr>
              <a:t>Dazu der eigene Platz in der Region – für die letzten 90 Tage, ohne Namen anderer Fahrer.</a:t>
            </a:r>
            <a:endParaRPr lang="en-US" sz="1600" dirty="0"/>
          </a:p>
        </p:txBody>
      </p:sp>
      <p:sp>
        <p:nvSpPr>
          <p:cNvPr id="12" name="Shape 5"/>
          <p:cNvSpPr/>
          <p:nvPr/>
        </p:nvSpPr>
        <p:spPr>
          <a:xfrm>
            <a:off x="4673600" y="1938654"/>
            <a:ext cx="6705600" cy="0"/>
          </a:xfrm>
          <a:prstGeom prst="line">
            <a:avLst/>
          </a:prstGeom>
          <a:noFill/>
          <a:ln w="6350">
            <a:solidFill>
              <a:srgbClr val="C9D5EA"/>
            </a:solidFill>
            <a:prstDash val="solid"/>
          </a:ln>
        </p:spPr>
      </p:sp>
      <p:sp>
        <p:nvSpPr>
          <p:cNvPr id="13" name="Text 6"/>
          <p:cNvSpPr/>
          <p:nvPr/>
        </p:nvSpPr>
        <p:spPr>
          <a:xfrm>
            <a:off x="4673600" y="2016764"/>
            <a:ext cx="304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5</a:t>
            </a:r>
            <a:endParaRPr lang="en-US" sz="1600" dirty="0"/>
          </a:p>
        </p:txBody>
      </p:sp>
      <p:sp>
        <p:nvSpPr>
          <p:cNvPr id="14" name="Text 7"/>
          <p:cNvSpPr/>
          <p:nvPr/>
        </p:nvSpPr>
        <p:spPr>
          <a:xfrm>
            <a:off x="5054600" y="2052321"/>
            <a:ext cx="44234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F4D"/>
                </a:solidFill>
                <a:latin typeface="Nunito Sans" pitchFamily="34" charset="0"/>
                <a:ea typeface="Nunito Sans" pitchFamily="34" charset="-122"/>
                <a:cs typeface="Nunito Sans" pitchFamily="34" charset="-120"/>
              </a:rPr>
              <a:t>Sehr zuverlässig:</a:t>
            </a:r>
            <a:r>
              <a:rPr lang="en-US" sz="1200" dirty="0">
                <a:solidFill>
                  <a:srgbClr val="0E1F4D"/>
                </a:solidFill>
                <a:latin typeface="Nunito Sans" pitchFamily="34" charset="0"/>
                <a:ea typeface="Nunito Sans" pitchFamily="34" charset="-122"/>
                <a:cs typeface="Nunito Sans" pitchFamily="34" charset="-120"/>
              </a:rPr>
              <a:t> immer pünktlich und mit allen Fotos</a:t>
            </a:r>
            <a:endParaRPr lang="en-US" sz="1200" dirty="0"/>
          </a:p>
        </p:txBody>
      </p:sp>
      <p:sp>
        <p:nvSpPr>
          <p:cNvPr id="15" name="Shape 8"/>
          <p:cNvSpPr/>
          <p:nvPr/>
        </p:nvSpPr>
        <p:spPr>
          <a:xfrm>
            <a:off x="4673600" y="2380617"/>
            <a:ext cx="6705600" cy="0"/>
          </a:xfrm>
          <a:prstGeom prst="line">
            <a:avLst/>
          </a:prstGeom>
          <a:noFill/>
          <a:ln w="6350">
            <a:solidFill>
              <a:srgbClr val="C9D5EA"/>
            </a:solidFill>
            <a:prstDash val="solid"/>
          </a:ln>
        </p:spPr>
      </p:sp>
      <p:sp>
        <p:nvSpPr>
          <p:cNvPr id="16" name="Text 9"/>
          <p:cNvSpPr/>
          <p:nvPr/>
        </p:nvSpPr>
        <p:spPr>
          <a:xfrm>
            <a:off x="4673600" y="2458721"/>
            <a:ext cx="304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4</a:t>
            </a:r>
            <a:endParaRPr lang="en-US" sz="1600" dirty="0"/>
          </a:p>
        </p:txBody>
      </p:sp>
      <p:sp>
        <p:nvSpPr>
          <p:cNvPr id="17" name="Text 10"/>
          <p:cNvSpPr/>
          <p:nvPr/>
        </p:nvSpPr>
        <p:spPr>
          <a:xfrm>
            <a:off x="5054600" y="2494279"/>
            <a:ext cx="40215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F4D"/>
                </a:solidFill>
                <a:latin typeface="Nunito Sans" pitchFamily="34" charset="0"/>
                <a:ea typeface="Nunito Sans" pitchFamily="34" charset="-122"/>
                <a:cs typeface="Nunito Sans" pitchFamily="34" charset="-120"/>
              </a:rPr>
              <a:t>Zuverlässig:</a:t>
            </a:r>
            <a:r>
              <a:rPr lang="en-US" sz="1200" dirty="0">
                <a:solidFill>
                  <a:srgbClr val="0E1F4D"/>
                </a:solidFill>
                <a:latin typeface="Nunito Sans" pitchFamily="34" charset="0"/>
                <a:ea typeface="Nunito Sans" pitchFamily="34" charset="-122"/>
                <a:cs typeface="Nunito Sans" pitchFamily="34" charset="-120"/>
              </a:rPr>
              <a:t> kleine Verspätung oder Fotos fehlen</a:t>
            </a:r>
            <a:endParaRPr lang="en-US" sz="1200" dirty="0"/>
          </a:p>
        </p:txBody>
      </p:sp>
      <p:sp>
        <p:nvSpPr>
          <p:cNvPr id="18" name="Shape 11"/>
          <p:cNvSpPr/>
          <p:nvPr/>
        </p:nvSpPr>
        <p:spPr>
          <a:xfrm>
            <a:off x="4673600" y="2822575"/>
            <a:ext cx="6705600" cy="0"/>
          </a:xfrm>
          <a:prstGeom prst="line">
            <a:avLst/>
          </a:prstGeom>
          <a:noFill/>
          <a:ln w="6350">
            <a:solidFill>
              <a:srgbClr val="C9D5EA"/>
            </a:solidFill>
            <a:prstDash val="solid"/>
          </a:ln>
        </p:spPr>
      </p:sp>
      <p:sp>
        <p:nvSpPr>
          <p:cNvPr id="19" name="Text 12"/>
          <p:cNvSpPr/>
          <p:nvPr/>
        </p:nvSpPr>
        <p:spPr>
          <a:xfrm>
            <a:off x="4673600" y="2900679"/>
            <a:ext cx="304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3</a:t>
            </a:r>
            <a:endParaRPr lang="en-US" sz="1600" dirty="0"/>
          </a:p>
        </p:txBody>
      </p:sp>
      <p:sp>
        <p:nvSpPr>
          <p:cNvPr id="20" name="Text 13"/>
          <p:cNvSpPr/>
          <p:nvPr/>
        </p:nvSpPr>
        <p:spPr>
          <a:xfrm>
            <a:off x="5054600" y="2936242"/>
            <a:ext cx="35234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F4D"/>
                </a:solidFill>
                <a:latin typeface="Nunito Sans" pitchFamily="34" charset="0"/>
                <a:ea typeface="Nunito Sans" pitchFamily="34" charset="-122"/>
                <a:cs typeface="Nunito Sans" pitchFamily="34" charset="-120"/>
              </a:rPr>
              <a:t>In Ordnung:</a:t>
            </a:r>
            <a:r>
              <a:rPr lang="en-US" sz="1200" dirty="0">
                <a:solidFill>
                  <a:srgbClr val="0E1F4D"/>
                </a:solidFill>
                <a:latin typeface="Nunito Sans" pitchFamily="34" charset="0"/>
                <a:ea typeface="Nunito Sans" pitchFamily="34" charset="-122"/>
                <a:cs typeface="Nunito Sans" pitchFamily="34" charset="-120"/>
              </a:rPr>
              <a:t> Kontrollen öfter etwas zu spät</a:t>
            </a:r>
            <a:endParaRPr lang="en-US" sz="1200" dirty="0"/>
          </a:p>
        </p:txBody>
      </p:sp>
      <p:sp>
        <p:nvSpPr>
          <p:cNvPr id="21" name="Shape 14"/>
          <p:cNvSpPr/>
          <p:nvPr/>
        </p:nvSpPr>
        <p:spPr>
          <a:xfrm>
            <a:off x="4673600" y="3264539"/>
            <a:ext cx="6705600" cy="0"/>
          </a:xfrm>
          <a:prstGeom prst="line">
            <a:avLst/>
          </a:prstGeom>
          <a:noFill/>
          <a:ln w="6350">
            <a:solidFill>
              <a:srgbClr val="C9D5EA"/>
            </a:solidFill>
            <a:prstDash val="solid"/>
          </a:ln>
        </p:spPr>
      </p:sp>
      <p:sp>
        <p:nvSpPr>
          <p:cNvPr id="22" name="Text 15"/>
          <p:cNvSpPr/>
          <p:nvPr/>
        </p:nvSpPr>
        <p:spPr>
          <a:xfrm>
            <a:off x="4673600" y="3342642"/>
            <a:ext cx="304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2</a:t>
            </a:r>
            <a:endParaRPr lang="en-US" sz="1600" dirty="0"/>
          </a:p>
        </p:txBody>
      </p:sp>
      <p:sp>
        <p:nvSpPr>
          <p:cNvPr id="23" name="Text 16"/>
          <p:cNvSpPr/>
          <p:nvPr/>
        </p:nvSpPr>
        <p:spPr>
          <a:xfrm>
            <a:off x="5054600" y="3378200"/>
            <a:ext cx="41921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F4D"/>
                </a:solidFill>
                <a:latin typeface="Nunito Sans" pitchFamily="34" charset="0"/>
                <a:ea typeface="Nunito Sans" pitchFamily="34" charset="-122"/>
                <a:cs typeface="Nunito Sans" pitchFamily="34" charset="-120"/>
              </a:rPr>
              <a:t>Ausbaufähig:</a:t>
            </a:r>
            <a:r>
              <a:rPr lang="en-US" sz="1200" dirty="0">
                <a:solidFill>
                  <a:srgbClr val="0E1F4D"/>
                </a:solidFill>
                <a:latin typeface="Nunito Sans" pitchFamily="34" charset="0"/>
                <a:ea typeface="Nunito Sans" pitchFamily="34" charset="-122"/>
                <a:cs typeface="Nunito Sans" pitchFamily="34" charset="-120"/>
              </a:rPr>
              <a:t> häufig zu spät oder gerade überfällig</a:t>
            </a:r>
            <a:endParaRPr lang="en-US" sz="1200" dirty="0"/>
          </a:p>
        </p:txBody>
      </p:sp>
      <p:sp>
        <p:nvSpPr>
          <p:cNvPr id="24" name="Shape 17"/>
          <p:cNvSpPr/>
          <p:nvPr/>
        </p:nvSpPr>
        <p:spPr>
          <a:xfrm>
            <a:off x="4673600" y="3706496"/>
            <a:ext cx="6705600" cy="0"/>
          </a:xfrm>
          <a:prstGeom prst="line">
            <a:avLst/>
          </a:prstGeom>
          <a:noFill/>
          <a:ln w="6350">
            <a:solidFill>
              <a:srgbClr val="C9D5EA"/>
            </a:solidFill>
            <a:prstDash val="solid"/>
          </a:ln>
        </p:spPr>
      </p:sp>
      <p:sp>
        <p:nvSpPr>
          <p:cNvPr id="25" name="Text 18"/>
          <p:cNvSpPr/>
          <p:nvPr/>
        </p:nvSpPr>
        <p:spPr>
          <a:xfrm>
            <a:off x="4673600" y="3784600"/>
            <a:ext cx="304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1</a:t>
            </a:r>
            <a:endParaRPr lang="en-US" sz="1600" dirty="0"/>
          </a:p>
        </p:txBody>
      </p:sp>
      <p:sp>
        <p:nvSpPr>
          <p:cNvPr id="26" name="Text 19"/>
          <p:cNvSpPr/>
          <p:nvPr/>
        </p:nvSpPr>
        <p:spPr>
          <a:xfrm>
            <a:off x="5054600" y="3820164"/>
            <a:ext cx="3521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F4D"/>
                </a:solidFill>
                <a:latin typeface="Nunito Sans" pitchFamily="34" charset="0"/>
                <a:ea typeface="Nunito Sans" pitchFamily="34" charset="-122"/>
                <a:cs typeface="Nunito Sans" pitchFamily="34" charset="-120"/>
              </a:rPr>
              <a:t>Bitte nachholen:</a:t>
            </a:r>
            <a:r>
              <a:rPr lang="en-US" sz="1200" dirty="0">
                <a:solidFill>
                  <a:srgbClr val="0E1F4D"/>
                </a:solidFill>
                <a:latin typeface="Nunito Sans" pitchFamily="34" charset="0"/>
                <a:ea typeface="Nunito Sans" pitchFamily="34" charset="-122"/>
                <a:cs typeface="Nunito Sans" pitchFamily="34" charset="-120"/>
              </a:rPr>
              <a:t> Kontrolle lange überfällig</a:t>
            </a:r>
            <a:endParaRPr lang="en-US" sz="1200" dirty="0"/>
          </a:p>
        </p:txBody>
      </p:sp>
      <p:sp>
        <p:nvSpPr>
          <p:cNvPr id="27" name="Shape 20"/>
          <p:cNvSpPr/>
          <p:nvPr/>
        </p:nvSpPr>
        <p:spPr>
          <a:xfrm>
            <a:off x="4676775" y="4148454"/>
            <a:ext cx="6699250" cy="786130"/>
          </a:xfrm>
          <a:prstGeom prst="roundRect">
            <a:avLst>
              <a:gd name="adj" fmla="val 15751"/>
            </a:avLst>
          </a:prstGeom>
          <a:solidFill>
            <a:srgbClr val="FBFCFE"/>
          </a:solidFill>
          <a:ln w="6350">
            <a:solidFill>
              <a:srgbClr val="D5DEEE"/>
            </a:solidFill>
            <a:prstDash val="solid"/>
          </a:ln>
        </p:spPr>
      </p:sp>
      <p:sp>
        <p:nvSpPr>
          <p:cNvPr id="28" name="Text 21"/>
          <p:cNvSpPr/>
          <p:nvPr/>
        </p:nvSpPr>
        <p:spPr>
          <a:xfrm>
            <a:off x="4856480" y="4302764"/>
            <a:ext cx="653003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F4D"/>
                </a:solidFill>
                <a:latin typeface="Nunito Sans" pitchFamily="34" charset="0"/>
                <a:ea typeface="Nunito Sans" pitchFamily="34" charset="-122"/>
                <a:cs typeface="Nunito Sans" pitchFamily="34" charset="-120"/>
              </a:rPr>
              <a:t>So gibt es 5 Sterne</a:t>
            </a:r>
            <a:endParaRPr lang="en-US" sz="1200" dirty="0"/>
          </a:p>
        </p:txBody>
      </p:sp>
      <p:sp>
        <p:nvSpPr>
          <p:cNvPr id="29" name="Text 22"/>
          <p:cNvSpPr/>
          <p:nvPr/>
        </p:nvSpPr>
        <p:spPr>
          <a:xfrm>
            <a:off x="4856480" y="4566921"/>
            <a:ext cx="65300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Kontrolle immer rechtzeitig im 28-Tage-Rhythmus und vollständig mit Fotos.</a:t>
            </a:r>
            <a:endParaRPr lang="en-US" sz="1200" dirty="0"/>
          </a:p>
        </p:txBody>
      </p:sp>
      <p:sp>
        <p:nvSpPr>
          <p:cNvPr id="30" name="Text 23"/>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31" name="Text 2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A6B"/>
        </a:solidFill>
      </p:bgPr>
    </p:bg>
    <p:spTree>
      <p:nvGrpSpPr>
        <p:cNvPr id="1" name=""/>
        <p:cNvGrpSpPr/>
        <p:nvPr/>
      </p:nvGrpSpPr>
      <p:grpSpPr>
        <a:xfrm>
          <a:off x="0" y="0"/>
          <a:ext cx="0" cy="0"/>
          <a:chOff x="0" y="0"/>
          <a:chExt cx="0" cy="0"/>
        </a:xfrm>
      </p:grpSpPr>
      <p:pic>
        <p:nvPicPr>
          <p:cNvPr id="2" name="Image 0" descr="Offene Mängel – Sicherheit beginnt mit Kontrolle: Rica-Kastenwagen mit markierten Schäden an Scheibe, Spiegel, Scheinwerfer, Stoßstange und Koffer">    </p:cNvPr>
          <p:cNvPicPr>
            <a:picLocks noChangeAspect="1"/>
          </p:cNvPicPr>
          <p:nvPr/>
        </p:nvPicPr>
        <p:blipFill>
          <a:blip r:embed="rId1"/>
          <a:srcRect l="389" r="389" t="0" b="0"/>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E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OFFENE MÄNGEL</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Mängel schnell beheben</a:t>
            </a:r>
            <a:endParaRPr lang="en-US" sz="3600" dirty="0"/>
          </a:p>
        </p:txBody>
      </p:sp>
      <p:sp>
        <p:nvSpPr>
          <p:cNvPr id="4" name="Shape 2"/>
          <p:cNvSpPr/>
          <p:nvPr/>
        </p:nvSpPr>
        <p:spPr>
          <a:xfrm>
            <a:off x="815975" y="1938654"/>
            <a:ext cx="3041650" cy="2503170"/>
          </a:xfrm>
          <a:prstGeom prst="roundRect">
            <a:avLst>
              <a:gd name="adj" fmla="val 5961"/>
            </a:avLst>
          </a:prstGeom>
          <a:solidFill>
            <a:srgbClr val="FBFCFE"/>
          </a:solidFill>
          <a:ln w="6350">
            <a:solidFill>
              <a:srgbClr val="D5DEEE"/>
            </a:solidFill>
            <a:prstDash val="solid"/>
          </a:ln>
        </p:spPr>
      </p:sp>
      <p:sp>
        <p:nvSpPr>
          <p:cNvPr id="5" name="Text 3"/>
          <p:cNvSpPr/>
          <p:nvPr/>
        </p:nvSpPr>
        <p:spPr>
          <a:xfrm>
            <a:off x="1046480" y="2169164"/>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1</a:t>
            </a:r>
            <a:endParaRPr lang="en-US" sz="1600" dirty="0"/>
          </a:p>
        </p:txBody>
      </p:sp>
      <p:sp>
        <p:nvSpPr>
          <p:cNvPr id="6" name="Text 4"/>
          <p:cNvSpPr/>
          <p:nvPr/>
        </p:nvSpPr>
        <p:spPr>
          <a:xfrm>
            <a:off x="1046480" y="2702564"/>
            <a:ext cx="265805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Mangel erfasst</a:t>
            </a:r>
            <a:endParaRPr lang="en-US" sz="1600" dirty="0"/>
          </a:p>
        </p:txBody>
      </p:sp>
      <p:sp>
        <p:nvSpPr>
          <p:cNvPr id="7" name="Text 5"/>
          <p:cNvSpPr/>
          <p:nvPr/>
        </p:nvSpPr>
        <p:spPr>
          <a:xfrm>
            <a:off x="1046480" y="3073400"/>
            <a:ext cx="2658059"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Stellt der Regionalleiter bei der Prüfung einen Mangel fest, erscheint er unter „Offene Mängel“.</a:t>
            </a:r>
            <a:endParaRPr lang="en-US" sz="1600" dirty="0"/>
          </a:p>
        </p:txBody>
      </p:sp>
      <p:pic>
        <p:nvPicPr>
          <p:cNvPr id="8" name="Image 0" descr="arrow-right">    </p:cNvPr>
          <p:cNvPicPr>
            <a:picLocks noChangeAspect="1"/>
          </p:cNvPicPr>
          <p:nvPr/>
        </p:nvPicPr>
        <p:blipFill>
          <a:blip r:embed="rId1"/>
          <a:srcRect l="0" r="0" t="0" b="0"/>
          <a:stretch/>
        </p:blipFill>
        <p:spPr>
          <a:xfrm>
            <a:off x="4013200" y="3088642"/>
            <a:ext cx="406400" cy="203200"/>
          </a:xfrm>
          <a:prstGeom prst="rect">
            <a:avLst/>
          </a:prstGeom>
        </p:spPr>
      </p:pic>
      <p:sp>
        <p:nvSpPr>
          <p:cNvPr id="9" name="Shape 6"/>
          <p:cNvSpPr/>
          <p:nvPr/>
        </p:nvSpPr>
        <p:spPr>
          <a:xfrm>
            <a:off x="4575175" y="1938654"/>
            <a:ext cx="3041650" cy="2503170"/>
          </a:xfrm>
          <a:prstGeom prst="roundRect">
            <a:avLst>
              <a:gd name="adj" fmla="val 5961"/>
            </a:avLst>
          </a:prstGeom>
          <a:solidFill>
            <a:srgbClr val="FBFCFE"/>
          </a:solidFill>
          <a:ln w="6350">
            <a:solidFill>
              <a:srgbClr val="D5DEEE"/>
            </a:solidFill>
            <a:prstDash val="solid"/>
          </a:ln>
        </p:spPr>
      </p:sp>
      <p:sp>
        <p:nvSpPr>
          <p:cNvPr id="10" name="Text 7"/>
          <p:cNvSpPr/>
          <p:nvPr/>
        </p:nvSpPr>
        <p:spPr>
          <a:xfrm>
            <a:off x="4805680" y="2169164"/>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2</a:t>
            </a:r>
            <a:endParaRPr lang="en-US" sz="1600" dirty="0"/>
          </a:p>
        </p:txBody>
      </p:sp>
      <p:sp>
        <p:nvSpPr>
          <p:cNvPr id="11" name="Text 8"/>
          <p:cNvSpPr/>
          <p:nvPr/>
        </p:nvSpPr>
        <p:spPr>
          <a:xfrm>
            <a:off x="4805680" y="2702564"/>
            <a:ext cx="265805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Beheben &amp; Nachweis</a:t>
            </a:r>
            <a:endParaRPr lang="en-US" sz="1600" dirty="0"/>
          </a:p>
        </p:txBody>
      </p:sp>
      <p:sp>
        <p:nvSpPr>
          <p:cNvPr id="12" name="Text 9"/>
          <p:cNvSpPr/>
          <p:nvPr/>
        </p:nvSpPr>
        <p:spPr>
          <a:xfrm>
            <a:off x="4805680" y="3073400"/>
            <a:ext cx="265805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Mangel beheben, dann Foto (bis zu 5) und Kommentar als Nachweis einreichen.</a:t>
            </a:r>
            <a:endParaRPr lang="en-US" sz="1600" dirty="0"/>
          </a:p>
        </p:txBody>
      </p:sp>
      <p:pic>
        <p:nvPicPr>
          <p:cNvPr id="13" name="Image 1" descr="arrow-right">    </p:cNvPr>
          <p:cNvPicPr>
            <a:picLocks noChangeAspect="1"/>
          </p:cNvPicPr>
          <p:nvPr/>
        </p:nvPicPr>
        <p:blipFill>
          <a:blip r:embed="rId2"/>
          <a:srcRect l="0" r="0" t="0" b="0"/>
          <a:stretch/>
        </p:blipFill>
        <p:spPr>
          <a:xfrm>
            <a:off x="7772400" y="3088642"/>
            <a:ext cx="406400" cy="203200"/>
          </a:xfrm>
          <a:prstGeom prst="rect">
            <a:avLst/>
          </a:prstGeom>
        </p:spPr>
      </p:pic>
      <p:sp>
        <p:nvSpPr>
          <p:cNvPr id="14" name="Shape 10"/>
          <p:cNvSpPr/>
          <p:nvPr/>
        </p:nvSpPr>
        <p:spPr>
          <a:xfrm>
            <a:off x="8334375" y="1938654"/>
            <a:ext cx="3041650" cy="2503170"/>
          </a:xfrm>
          <a:prstGeom prst="roundRect">
            <a:avLst>
              <a:gd name="adj" fmla="val 5961"/>
            </a:avLst>
          </a:prstGeom>
          <a:solidFill>
            <a:srgbClr val="FBFCFE"/>
          </a:solidFill>
          <a:ln w="6350">
            <a:solidFill>
              <a:srgbClr val="D5DEEE"/>
            </a:solidFill>
            <a:prstDash val="solid"/>
          </a:ln>
        </p:spPr>
      </p:sp>
      <p:sp>
        <p:nvSpPr>
          <p:cNvPr id="15" name="Text 11"/>
          <p:cNvSpPr/>
          <p:nvPr/>
        </p:nvSpPr>
        <p:spPr>
          <a:xfrm>
            <a:off x="8564880" y="2169164"/>
            <a:ext cx="406400" cy="4064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2240"/>
              </a:lnSpc>
              <a:buNone/>
            </a:pPr>
            <a:r>
              <a:rPr lang="en-US" sz="1600" b="1" dirty="0">
                <a:solidFill>
                  <a:srgbClr val="F3F6FB"/>
                </a:solidFill>
                <a:latin typeface="Montserrat" pitchFamily="34" charset="0"/>
                <a:ea typeface="Montserrat" pitchFamily="34" charset="-122"/>
                <a:cs typeface="Montserrat" pitchFamily="34" charset="-120"/>
              </a:rPr>
              <a:t>3</a:t>
            </a:r>
            <a:endParaRPr lang="en-US" sz="1600" dirty="0"/>
          </a:p>
        </p:txBody>
      </p:sp>
      <p:sp>
        <p:nvSpPr>
          <p:cNvPr id="16" name="Text 12"/>
          <p:cNvSpPr/>
          <p:nvPr/>
        </p:nvSpPr>
        <p:spPr>
          <a:xfrm>
            <a:off x="8564880" y="2702564"/>
            <a:ext cx="265805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Prüfung &amp; Abschluss</a:t>
            </a:r>
            <a:endParaRPr lang="en-US" sz="1600" dirty="0"/>
          </a:p>
        </p:txBody>
      </p:sp>
      <p:sp>
        <p:nvSpPr>
          <p:cNvPr id="17" name="Text 13"/>
          <p:cNvSpPr/>
          <p:nvPr/>
        </p:nvSpPr>
        <p:spPr>
          <a:xfrm>
            <a:off x="8564880" y="3073400"/>
            <a:ext cx="265805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Der Regionalleiter prüft die Behebung und schließt den Mangel ab.</a:t>
            </a:r>
            <a:endParaRPr lang="en-US" sz="1600" dirty="0"/>
          </a:p>
        </p:txBody>
      </p:sp>
      <p:sp>
        <p:nvSpPr>
          <p:cNvPr id="18" name="Shape 14"/>
          <p:cNvSpPr/>
          <p:nvPr/>
        </p:nvSpPr>
        <p:spPr>
          <a:xfrm>
            <a:off x="812800" y="4749800"/>
            <a:ext cx="10566400" cy="660400"/>
          </a:xfrm>
          <a:prstGeom prst="roundRect">
            <a:avLst>
              <a:gd name="adj" fmla="val 23077"/>
            </a:avLst>
          </a:prstGeom>
          <a:solidFill>
            <a:srgbClr val="0E1F4D"/>
          </a:solidFill>
          <a:ln/>
        </p:spPr>
      </p:sp>
      <p:pic>
        <p:nvPicPr>
          <p:cNvPr id="19" name="Image 2" descr="Clock">    </p:cNvPr>
          <p:cNvPicPr>
            <a:picLocks noChangeAspect="1"/>
          </p:cNvPicPr>
          <p:nvPr/>
        </p:nvPicPr>
        <p:blipFill>
          <a:blip r:embed="rId3"/>
          <a:srcRect l="0" r="0" t="0" b="0"/>
          <a:stretch/>
        </p:blipFill>
        <p:spPr>
          <a:xfrm>
            <a:off x="1066800" y="4927600"/>
            <a:ext cx="304800" cy="304800"/>
          </a:xfrm>
          <a:prstGeom prst="rect">
            <a:avLst/>
          </a:prstGeom>
        </p:spPr>
      </p:pic>
      <p:sp>
        <p:nvSpPr>
          <p:cNvPr id="20" name="Text 15"/>
          <p:cNvSpPr/>
          <p:nvPr/>
        </p:nvSpPr>
        <p:spPr>
          <a:xfrm>
            <a:off x="1524000" y="4937764"/>
            <a:ext cx="906760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Nach 48 Stunden erinnert die App automatisch – bis der Mangel abgeschlossen ist.</a:t>
            </a:r>
            <a:endParaRPr lang="en-US" sz="1600" dirty="0"/>
          </a:p>
        </p:txBody>
      </p:sp>
      <p:sp>
        <p:nvSpPr>
          <p:cNvPr id="21" name="Text 16"/>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2" name="Text 1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WERKSTATT</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Vom Fehler bis zur Reparatur</a:t>
            </a:r>
            <a:endParaRPr lang="en-US" sz="3600" dirty="0"/>
          </a:p>
        </p:txBody>
      </p:sp>
      <p:sp>
        <p:nvSpPr>
          <p:cNvPr id="4" name="Text 2"/>
          <p:cNvSpPr/>
          <p:nvPr/>
        </p:nvSpPr>
        <p:spPr>
          <a:xfrm>
            <a:off x="812800" y="1935479"/>
            <a:ext cx="355600" cy="3556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1680"/>
              </a:lnSpc>
              <a:buNone/>
            </a:pPr>
            <a:r>
              <a:rPr lang="en-US" sz="1200" b="1" dirty="0">
                <a:solidFill>
                  <a:srgbClr val="F3F6FB"/>
                </a:solidFill>
                <a:latin typeface="Montserrat" pitchFamily="34" charset="0"/>
                <a:ea typeface="Montserrat" pitchFamily="34" charset="-122"/>
                <a:cs typeface="Montserrat" pitchFamily="34" charset="-120"/>
              </a:rPr>
              <a:t>1</a:t>
            </a:r>
            <a:endParaRPr lang="en-US" sz="1200" dirty="0"/>
          </a:p>
        </p:txBody>
      </p:sp>
      <p:sp>
        <p:nvSpPr>
          <p:cNvPr id="5" name="Text 3"/>
          <p:cNvSpPr/>
          <p:nvPr/>
        </p:nvSpPr>
        <p:spPr>
          <a:xfrm>
            <a:off x="1295400" y="1935479"/>
            <a:ext cx="525570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Gemeldet</a:t>
            </a:r>
            <a:endParaRPr lang="en-US" sz="1600" dirty="0"/>
          </a:p>
        </p:txBody>
      </p:sp>
      <p:sp>
        <p:nvSpPr>
          <p:cNvPr id="6" name="Text 4"/>
          <p:cNvSpPr/>
          <p:nvPr/>
        </p:nvSpPr>
        <p:spPr>
          <a:xfrm>
            <a:off x="1295400" y="2204721"/>
            <a:ext cx="60198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Fehler mit Fotos oder Video melden – die Admins werden sofort informiert.</a:t>
            </a:r>
            <a:endParaRPr lang="en-US" sz="1200" dirty="0"/>
          </a:p>
        </p:txBody>
      </p:sp>
      <p:sp>
        <p:nvSpPr>
          <p:cNvPr id="7" name="Text 5"/>
          <p:cNvSpPr/>
          <p:nvPr/>
        </p:nvSpPr>
        <p:spPr>
          <a:xfrm>
            <a:off x="812800" y="2562864"/>
            <a:ext cx="355600" cy="3556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1680"/>
              </a:lnSpc>
              <a:buNone/>
            </a:pPr>
            <a:r>
              <a:rPr lang="en-US" sz="1200" b="1" dirty="0">
                <a:solidFill>
                  <a:srgbClr val="F3F6FB"/>
                </a:solidFill>
                <a:latin typeface="Montserrat" pitchFamily="34" charset="0"/>
                <a:ea typeface="Montserrat" pitchFamily="34" charset="-122"/>
                <a:cs typeface="Montserrat" pitchFamily="34" charset="-120"/>
              </a:rPr>
              <a:t>2</a:t>
            </a:r>
            <a:endParaRPr lang="en-US" sz="1200" dirty="0"/>
          </a:p>
        </p:txBody>
      </p:sp>
      <p:sp>
        <p:nvSpPr>
          <p:cNvPr id="8" name="Text 6"/>
          <p:cNvSpPr/>
          <p:nvPr/>
        </p:nvSpPr>
        <p:spPr>
          <a:xfrm>
            <a:off x="1295400" y="2562864"/>
            <a:ext cx="588645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Termin</a:t>
            </a:r>
            <a:endParaRPr lang="en-US" sz="1600" dirty="0"/>
          </a:p>
        </p:txBody>
      </p:sp>
      <p:sp>
        <p:nvSpPr>
          <p:cNvPr id="9" name="Text 7"/>
          <p:cNvSpPr/>
          <p:nvPr/>
        </p:nvSpPr>
        <p:spPr>
          <a:xfrm>
            <a:off x="1295400" y="2832100"/>
            <a:ext cx="588645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Datum, Uhrzeit und Werkstatt kommen per Push und E-Mail – mit „Route“ zu Google Maps.</a:t>
            </a:r>
            <a:endParaRPr lang="en-US" sz="1200" dirty="0"/>
          </a:p>
        </p:txBody>
      </p:sp>
      <p:sp>
        <p:nvSpPr>
          <p:cNvPr id="10" name="Text 8"/>
          <p:cNvSpPr/>
          <p:nvPr/>
        </p:nvSpPr>
        <p:spPr>
          <a:xfrm>
            <a:off x="812800" y="3395979"/>
            <a:ext cx="355600" cy="3556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1680"/>
              </a:lnSpc>
              <a:buNone/>
            </a:pPr>
            <a:r>
              <a:rPr lang="en-US" sz="1200" b="1" dirty="0">
                <a:solidFill>
                  <a:srgbClr val="F3F6FB"/>
                </a:solidFill>
                <a:latin typeface="Montserrat" pitchFamily="34" charset="0"/>
                <a:ea typeface="Montserrat" pitchFamily="34" charset="-122"/>
                <a:cs typeface="Montserrat" pitchFamily="34" charset="-120"/>
              </a:rPr>
              <a:t>3</a:t>
            </a:r>
            <a:endParaRPr lang="en-US" sz="1200" dirty="0"/>
          </a:p>
        </p:txBody>
      </p:sp>
      <p:sp>
        <p:nvSpPr>
          <p:cNvPr id="11" name="Text 9"/>
          <p:cNvSpPr/>
          <p:nvPr/>
        </p:nvSpPr>
        <p:spPr>
          <a:xfrm>
            <a:off x="1295400" y="3395979"/>
            <a:ext cx="48983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In Werkstatt</a:t>
            </a:r>
            <a:endParaRPr lang="en-US" sz="1600" dirty="0"/>
          </a:p>
        </p:txBody>
      </p:sp>
      <p:sp>
        <p:nvSpPr>
          <p:cNvPr id="12" name="Text 10"/>
          <p:cNvSpPr/>
          <p:nvPr/>
        </p:nvSpPr>
        <p:spPr>
          <a:xfrm>
            <a:off x="1295400" y="3665221"/>
            <a:ext cx="5706808"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Vor Ort „Ja, angekommen“ tippen – oder „Termin verschoben“ melden.</a:t>
            </a:r>
            <a:endParaRPr lang="en-US" sz="1200" dirty="0"/>
          </a:p>
        </p:txBody>
      </p:sp>
      <p:sp>
        <p:nvSpPr>
          <p:cNvPr id="13" name="Text 11"/>
          <p:cNvSpPr/>
          <p:nvPr/>
        </p:nvSpPr>
        <p:spPr>
          <a:xfrm>
            <a:off x="812800" y="4023364"/>
            <a:ext cx="355600" cy="355600"/>
          </a:xfrm>
          <a:prstGeom prst="roundRect">
            <a:avLst>
              <a:gd name="adj" fmla="val 50000"/>
            </a:avLst>
          </a:prstGeom>
          <a:solidFill>
            <a:srgbClr val="1F5FE0"/>
          </a:solidFill>
          <a:ln/>
        </p:spPr>
        <p:txBody>
          <a:bodyPr wrap="square" lIns="0" tIns="0" rIns="0" bIns="0" rtlCol="0" anchor="ctr">
            <a:normAutofit/>
          </a:bodyPr>
          <a:lstStyle/>
          <a:p>
            <a:pPr algn="ctr" indent="0" marL="0">
              <a:lnSpc>
                <a:spcPts val="1680"/>
              </a:lnSpc>
              <a:buNone/>
            </a:pPr>
            <a:r>
              <a:rPr lang="en-US" sz="1200" b="1" dirty="0">
                <a:solidFill>
                  <a:srgbClr val="F3F6FB"/>
                </a:solidFill>
                <a:latin typeface="Montserrat" pitchFamily="34" charset="0"/>
                <a:ea typeface="Montserrat" pitchFamily="34" charset="-122"/>
                <a:cs typeface="Montserrat" pitchFamily="34" charset="-120"/>
              </a:rPr>
              <a:t>4</a:t>
            </a:r>
            <a:endParaRPr lang="en-US" sz="1200" dirty="0"/>
          </a:p>
        </p:txBody>
      </p:sp>
      <p:sp>
        <p:nvSpPr>
          <p:cNvPr id="14" name="Text 12"/>
          <p:cNvSpPr/>
          <p:nvPr/>
        </p:nvSpPr>
        <p:spPr>
          <a:xfrm>
            <a:off x="1295400" y="4023364"/>
            <a:ext cx="588645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Erledigt</a:t>
            </a:r>
            <a:endParaRPr lang="en-US" sz="1600" dirty="0"/>
          </a:p>
        </p:txBody>
      </p:sp>
      <p:sp>
        <p:nvSpPr>
          <p:cNvPr id="15" name="Text 13"/>
          <p:cNvSpPr/>
          <p:nvPr/>
        </p:nvSpPr>
        <p:spPr>
          <a:xfrm>
            <a:off x="1295400" y="4292600"/>
            <a:ext cx="588645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„Reparatur fertig – abschließen“. Jeder Schritt steht mit Datum und Uhrzeit im Verlauf.</a:t>
            </a:r>
            <a:endParaRPr lang="en-US" sz="1200" dirty="0"/>
          </a:p>
        </p:txBody>
      </p:sp>
      <p:pic>
        <p:nvPicPr>
          <p:cNvPr id="16" name="Image 0" descr="Werkstatt: Mechaniker arbeiten an einem Rica-Kastenwagen auf der Hebebühne">    </p:cNvPr>
          <p:cNvPicPr>
            <a:picLocks noChangeAspect="1"/>
          </p:cNvPicPr>
          <p:nvPr/>
        </p:nvPicPr>
        <p:blipFill>
          <a:blip r:embed="rId1"/>
          <a:srcRect l="0" r="0" t="0" b="0"/>
          <a:stretch/>
        </p:blipFill>
        <p:spPr>
          <a:xfrm>
            <a:off x="7315200" y="1935479"/>
            <a:ext cx="4064000" cy="2286000"/>
          </a:xfrm>
          <a:prstGeom prst="roundRect">
            <a:avLst>
              <a:gd name="adj" fmla="val 5556"/>
            </a:avLst>
          </a:prstGeom>
        </p:spPr>
      </p:pic>
      <p:sp>
        <p:nvSpPr>
          <p:cNvPr id="17" name="Text 14"/>
          <p:cNvSpPr/>
          <p:nvPr/>
        </p:nvSpPr>
        <p:spPr>
          <a:xfrm>
            <a:off x="7315200" y="4348479"/>
            <a:ext cx="4064000" cy="944880"/>
          </a:xfrm>
          <a:prstGeom prst="roundRect">
            <a:avLst>
              <a:gd name="adj" fmla="val 13441"/>
            </a:avLst>
          </a:prstGeom>
          <a:solidFill>
            <a:srgbClr val="E6EDF8"/>
          </a:solidFill>
          <a:ln/>
        </p:spPr>
        <p:txBody>
          <a:bodyPr wrap="square" lIns="166003" tIns="115203" rIns="56275" bIns="89803" rtlCol="0" anchor="t">
            <a:normAutofit/>
          </a:bodyPr>
          <a:lstStyle/>
          <a:p>
            <a:pPr algn="l" indent="0" marL="0">
              <a:lnSpc>
                <a:spcPts val="1680"/>
              </a:lnSpc>
              <a:buNone/>
            </a:pPr>
            <a:r>
              <a:rPr lang="en-US" sz="1200" b="1" dirty="0">
                <a:solidFill>
                  <a:srgbClr val="0E1F4D"/>
                </a:solidFill>
                <a:latin typeface="Nunito Sans" pitchFamily="34" charset="0"/>
                <a:ea typeface="Nunito Sans" pitchFamily="34" charset="-122"/>
                <a:cs typeface="Nunito Sans" pitchFamily="34" charset="-120"/>
              </a:rPr>
              <a:t>Nachfrage am Termintag:</a:t>
            </a:r>
            <a:r>
              <a:rPr lang="en-US" sz="1200" dirty="0">
                <a:solidFill>
                  <a:srgbClr val="0E1F4D"/>
                </a:solidFill>
                <a:latin typeface="Nunito Sans" pitchFamily="34" charset="0"/>
                <a:ea typeface="Nunito Sans" pitchFamily="34" charset="-122"/>
                <a:cs typeface="Nunito Sans" pitchFamily="34" charset="-120"/>
              </a:rPr>
              <a:t> Ab der Terminzeit fragt die App alle 10 Minuten, ob der Fahrer angekommen ist (6–20 Uhr).</a:t>
            </a:r>
            <a:endParaRPr lang="en-US" sz="1200" dirty="0"/>
          </a:p>
        </p:txBody>
      </p:sp>
      <p:sp>
        <p:nvSpPr>
          <p:cNvPr id="18" name="Text 15"/>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19" name="Text 1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2A6B"/>
        </a:solidFill>
      </p:bgPr>
    </p:bg>
    <p:spTree>
      <p:nvGrpSpPr>
        <p:cNvPr id="1" name=""/>
        <p:cNvGrpSpPr/>
        <p:nvPr/>
      </p:nvGrpSpPr>
      <p:grpSpPr>
        <a:xfrm>
          <a:off x="0" y="0"/>
          <a:ext cx="0" cy="0"/>
          <a:chOff x="0" y="0"/>
          <a:chExt cx="0" cy="0"/>
        </a:xfrm>
      </p:grpSpPr>
      <p:pic>
        <p:nvPicPr>
          <p:cNvPr id="2" name="Image 0" descr="Protokolle – übersichtlich, digital, sicher: Tablet mit einem digital unterschriebenen Rica-Protokoll; erstellen und bearbeiten, teilen und freigeben, rechtssicher dokumentiert">    </p:cNvPr>
          <p:cNvPicPr>
            <a:picLocks noChangeAspect="1"/>
          </p:cNvPicPr>
          <p:nvPr/>
        </p:nvPicPr>
        <p:blipFill>
          <a:blip r:embed="rId1"/>
          <a:srcRect l="278" r="278" t="0" b="0"/>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6E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PROTOKOLLE</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Übergabeprotokoll in vier Teilen</a:t>
            </a:r>
            <a:endParaRPr lang="en-US" sz="3600" dirty="0"/>
          </a:p>
        </p:txBody>
      </p:sp>
      <p:sp>
        <p:nvSpPr>
          <p:cNvPr id="4" name="Shape 2"/>
          <p:cNvSpPr/>
          <p:nvPr/>
        </p:nvSpPr>
        <p:spPr>
          <a:xfrm>
            <a:off x="815975" y="1938654"/>
            <a:ext cx="2520950" cy="2513330"/>
          </a:xfrm>
          <a:prstGeom prst="roundRect">
            <a:avLst>
              <a:gd name="adj" fmla="val 5937"/>
            </a:avLst>
          </a:prstGeom>
          <a:solidFill>
            <a:srgbClr val="FBFCFE"/>
          </a:solidFill>
          <a:ln w="6350">
            <a:solidFill>
              <a:srgbClr val="D5DEEE"/>
            </a:solidFill>
            <a:prstDash val="solid"/>
          </a:ln>
        </p:spPr>
      </p:sp>
      <p:sp>
        <p:nvSpPr>
          <p:cNvPr id="5" name="Text 3"/>
          <p:cNvSpPr/>
          <p:nvPr/>
        </p:nvSpPr>
        <p:spPr>
          <a:xfrm>
            <a:off x="1021080" y="2143764"/>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E0"/>
                </a:solidFill>
                <a:latin typeface="Montserrat" pitchFamily="34" charset="0"/>
                <a:ea typeface="Montserrat" pitchFamily="34" charset="-122"/>
                <a:cs typeface="Montserrat" pitchFamily="34" charset="-120"/>
              </a:rPr>
              <a:t>01</a:t>
            </a:r>
            <a:endParaRPr lang="en-US" sz="1200" dirty="0"/>
          </a:p>
        </p:txBody>
      </p:sp>
      <p:sp>
        <p:nvSpPr>
          <p:cNvPr id="6" name="Text 4"/>
          <p:cNvSpPr/>
          <p:nvPr/>
        </p:nvSpPr>
        <p:spPr>
          <a:xfrm>
            <a:off x="1021080" y="2433321"/>
            <a:ext cx="2174062"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Sichtprüfung außen</a:t>
            </a:r>
            <a:endParaRPr lang="en-US" sz="1600" dirty="0"/>
          </a:p>
        </p:txBody>
      </p:sp>
      <p:sp>
        <p:nvSpPr>
          <p:cNvPr id="7" name="Text 5"/>
          <p:cNvSpPr/>
          <p:nvPr/>
        </p:nvSpPr>
        <p:spPr>
          <a:xfrm>
            <a:off x="1021080" y="2997200"/>
            <a:ext cx="217406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Schäden außen am Fahrzeug erfassen und mit Fotos belegen.</a:t>
            </a:r>
            <a:endParaRPr lang="en-US" sz="1200" dirty="0"/>
          </a:p>
        </p:txBody>
      </p:sp>
      <p:sp>
        <p:nvSpPr>
          <p:cNvPr id="8" name="Shape 6"/>
          <p:cNvSpPr/>
          <p:nvPr/>
        </p:nvSpPr>
        <p:spPr>
          <a:xfrm>
            <a:off x="3495675" y="1938654"/>
            <a:ext cx="2520950" cy="2513330"/>
          </a:xfrm>
          <a:prstGeom prst="roundRect">
            <a:avLst>
              <a:gd name="adj" fmla="val 5937"/>
            </a:avLst>
          </a:prstGeom>
          <a:solidFill>
            <a:srgbClr val="FBFCFE"/>
          </a:solidFill>
          <a:ln w="6350">
            <a:solidFill>
              <a:srgbClr val="D5DEEE"/>
            </a:solidFill>
            <a:prstDash val="solid"/>
          </a:ln>
        </p:spPr>
      </p:sp>
      <p:sp>
        <p:nvSpPr>
          <p:cNvPr id="9" name="Text 7"/>
          <p:cNvSpPr/>
          <p:nvPr/>
        </p:nvSpPr>
        <p:spPr>
          <a:xfrm>
            <a:off x="3700780" y="2143764"/>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E0"/>
                </a:solidFill>
                <a:latin typeface="Montserrat" pitchFamily="34" charset="0"/>
                <a:ea typeface="Montserrat" pitchFamily="34" charset="-122"/>
                <a:cs typeface="Montserrat" pitchFamily="34" charset="-120"/>
              </a:rPr>
              <a:t>02</a:t>
            </a:r>
            <a:endParaRPr lang="en-US" sz="1200" dirty="0"/>
          </a:p>
        </p:txBody>
      </p:sp>
      <p:sp>
        <p:nvSpPr>
          <p:cNvPr id="10" name="Text 8"/>
          <p:cNvSpPr/>
          <p:nvPr/>
        </p:nvSpPr>
        <p:spPr>
          <a:xfrm>
            <a:off x="3700780" y="2433321"/>
            <a:ext cx="231267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Sichtprüfung innen</a:t>
            </a:r>
            <a:endParaRPr lang="en-US" sz="1600" dirty="0"/>
          </a:p>
        </p:txBody>
      </p:sp>
      <p:sp>
        <p:nvSpPr>
          <p:cNvPr id="11" name="Text 9"/>
          <p:cNvSpPr/>
          <p:nvPr/>
        </p:nvSpPr>
        <p:spPr>
          <a:xfrm>
            <a:off x="3700780" y="2753364"/>
            <a:ext cx="2174062" cy="665480"/>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Boden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Sitze sauber und gepflegt</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Innenverkleidung</a:t>
            </a:r>
            <a:endParaRPr lang="en-US" sz="1200" dirty="0"/>
          </a:p>
        </p:txBody>
      </p:sp>
      <p:sp>
        <p:nvSpPr>
          <p:cNvPr id="12" name="Shape 10"/>
          <p:cNvSpPr/>
          <p:nvPr/>
        </p:nvSpPr>
        <p:spPr>
          <a:xfrm>
            <a:off x="6175375" y="1938654"/>
            <a:ext cx="2520950" cy="2513330"/>
          </a:xfrm>
          <a:prstGeom prst="roundRect">
            <a:avLst>
              <a:gd name="adj" fmla="val 5937"/>
            </a:avLst>
          </a:prstGeom>
          <a:solidFill>
            <a:srgbClr val="FBFCFE"/>
          </a:solidFill>
          <a:ln w="6350">
            <a:solidFill>
              <a:srgbClr val="D5DEEE"/>
            </a:solidFill>
            <a:prstDash val="solid"/>
          </a:ln>
        </p:spPr>
      </p:sp>
      <p:sp>
        <p:nvSpPr>
          <p:cNvPr id="13" name="Text 11"/>
          <p:cNvSpPr/>
          <p:nvPr/>
        </p:nvSpPr>
        <p:spPr>
          <a:xfrm>
            <a:off x="6380480" y="2143764"/>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E0"/>
                </a:solidFill>
                <a:latin typeface="Montserrat" pitchFamily="34" charset="0"/>
                <a:ea typeface="Montserrat" pitchFamily="34" charset="-122"/>
                <a:cs typeface="Montserrat" pitchFamily="34" charset="-120"/>
              </a:rPr>
              <a:t>03</a:t>
            </a:r>
            <a:endParaRPr lang="en-US" sz="1200" dirty="0"/>
          </a:p>
        </p:txBody>
      </p:sp>
      <p:sp>
        <p:nvSpPr>
          <p:cNvPr id="14" name="Text 12"/>
          <p:cNvSpPr/>
          <p:nvPr/>
        </p:nvSpPr>
        <p:spPr>
          <a:xfrm>
            <a:off x="6380480" y="2433321"/>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Funktionen</a:t>
            </a:r>
            <a:endParaRPr lang="en-US" sz="1600" dirty="0"/>
          </a:p>
        </p:txBody>
      </p:sp>
      <p:sp>
        <p:nvSpPr>
          <p:cNvPr id="15" name="Text 13"/>
          <p:cNvSpPr/>
          <p:nvPr/>
        </p:nvSpPr>
        <p:spPr>
          <a:xfrm>
            <a:off x="6380480" y="2753364"/>
            <a:ext cx="2174062" cy="1518920"/>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Außenspiegel</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Bremsen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Reifen und Profil</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Lichter vorne und hinten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Scheinwerfer</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Tacho-Fehlermeldungen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Signalhorn</a:t>
            </a:r>
            <a:endParaRPr lang="en-US" sz="1200" dirty="0"/>
          </a:p>
        </p:txBody>
      </p:sp>
      <p:sp>
        <p:nvSpPr>
          <p:cNvPr id="16" name="Shape 14"/>
          <p:cNvSpPr/>
          <p:nvPr/>
        </p:nvSpPr>
        <p:spPr>
          <a:xfrm>
            <a:off x="8855075" y="1938654"/>
            <a:ext cx="2520950" cy="2513330"/>
          </a:xfrm>
          <a:prstGeom prst="roundRect">
            <a:avLst>
              <a:gd name="adj" fmla="val 5937"/>
            </a:avLst>
          </a:prstGeom>
          <a:solidFill>
            <a:srgbClr val="FBFCFE"/>
          </a:solidFill>
          <a:ln w="6350">
            <a:solidFill>
              <a:srgbClr val="D5DEEE"/>
            </a:solidFill>
            <a:prstDash val="solid"/>
          </a:ln>
        </p:spPr>
      </p:sp>
      <p:sp>
        <p:nvSpPr>
          <p:cNvPr id="17" name="Text 15"/>
          <p:cNvSpPr/>
          <p:nvPr/>
        </p:nvSpPr>
        <p:spPr>
          <a:xfrm>
            <a:off x="9060180" y="2143764"/>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E0"/>
                </a:solidFill>
                <a:latin typeface="Montserrat" pitchFamily="34" charset="0"/>
                <a:ea typeface="Montserrat" pitchFamily="34" charset="-122"/>
                <a:cs typeface="Montserrat" pitchFamily="34" charset="-120"/>
              </a:rPr>
              <a:t>04</a:t>
            </a:r>
            <a:endParaRPr lang="en-US" sz="1200" dirty="0"/>
          </a:p>
        </p:txBody>
      </p:sp>
      <p:sp>
        <p:nvSpPr>
          <p:cNvPr id="18" name="Text 16"/>
          <p:cNvSpPr/>
          <p:nvPr/>
        </p:nvSpPr>
        <p:spPr>
          <a:xfrm>
            <a:off x="9060180" y="2433321"/>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Zubehör</a:t>
            </a:r>
            <a:endParaRPr lang="en-US" sz="1600" dirty="0"/>
          </a:p>
        </p:txBody>
      </p:sp>
      <p:sp>
        <p:nvSpPr>
          <p:cNvPr id="19" name="Text 17"/>
          <p:cNvSpPr/>
          <p:nvPr/>
        </p:nvSpPr>
        <p:spPr>
          <a:xfrm>
            <a:off x="9060180" y="2753364"/>
            <a:ext cx="2174062" cy="1305560"/>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KFZ-Schein, Fahrtenbuch</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Verbandskasten</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Warndreieck, Warnweste</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Tankkarte, Schlüssel</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Navigationsgerät</a:t>
            </a:r>
            <a:endParaRPr lang="en-US" sz="1200" dirty="0"/>
          </a:p>
          <a:p>
            <a:pPr algn="l" marL="182880" indent="-155194">
              <a:lnSpc>
                <a:spcPts val="1680"/>
              </a:lnSpc>
              <a:buSzPct val="100000"/>
              <a:buChar char="•"/>
            </a:pPr>
            <a:r>
              <a:rPr lang="en-US" sz="1200" dirty="0">
                <a:solidFill>
                  <a:srgbClr val="3D4A66"/>
                </a:solidFill>
                <a:latin typeface="Nunito Sans" pitchFamily="34" charset="0"/>
                <a:ea typeface="Nunito Sans" pitchFamily="34" charset="-122"/>
                <a:cs typeface="Nunito Sans" pitchFamily="34" charset="-120"/>
              </a:rPr>
              <a:t>und weiteres</a:t>
            </a:r>
            <a:endParaRPr lang="en-US" sz="1200" dirty="0"/>
          </a:p>
        </p:txBody>
      </p:sp>
      <p:sp>
        <p:nvSpPr>
          <p:cNvPr id="20" name="Shape 18"/>
          <p:cNvSpPr/>
          <p:nvPr/>
        </p:nvSpPr>
        <p:spPr>
          <a:xfrm>
            <a:off x="812800" y="4759964"/>
            <a:ext cx="10566400" cy="660400"/>
          </a:xfrm>
          <a:prstGeom prst="roundRect">
            <a:avLst>
              <a:gd name="adj" fmla="val 23077"/>
            </a:avLst>
          </a:prstGeom>
          <a:solidFill>
            <a:srgbClr val="0E1F4D"/>
          </a:solidFill>
          <a:ln/>
        </p:spPr>
      </p:sp>
      <p:pic>
        <p:nvPicPr>
          <p:cNvPr id="21" name="Image 0" descr="Verified">    </p:cNvPr>
          <p:cNvPicPr>
            <a:picLocks noChangeAspect="1"/>
          </p:cNvPicPr>
          <p:nvPr/>
        </p:nvPicPr>
        <p:blipFill>
          <a:blip r:embed="rId1"/>
          <a:srcRect l="0" r="0" t="0" b="0"/>
          <a:stretch/>
        </p:blipFill>
        <p:spPr>
          <a:xfrm>
            <a:off x="1066800" y="4937764"/>
            <a:ext cx="304800" cy="304800"/>
          </a:xfrm>
          <a:prstGeom prst="rect">
            <a:avLst/>
          </a:prstGeom>
        </p:spPr>
      </p:pic>
      <p:sp>
        <p:nvSpPr>
          <p:cNvPr id="22" name="Text 19"/>
          <p:cNvSpPr/>
          <p:nvPr/>
        </p:nvSpPr>
        <p:spPr>
          <a:xfrm>
            <a:off x="1524000" y="4947921"/>
            <a:ext cx="964815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Dazu Bemerkungen, optional Video, und zwei Unterschriften: Übergabe und Übernahme.</a:t>
            </a:r>
            <a:endParaRPr lang="en-US" sz="1600" dirty="0"/>
          </a:p>
        </p:txBody>
      </p:sp>
      <p:sp>
        <p:nvSpPr>
          <p:cNvPr id="23" name="Text 20"/>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4" name="Text 2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B"/>
        </a:solidFill>
      </p:bgPr>
    </p:bg>
    <p:spTree>
      <p:nvGrpSpPr>
        <p:cNvPr id="1" name=""/>
        <p:cNvGrpSpPr/>
        <p:nvPr/>
      </p:nvGrpSpPr>
      <p:grpSpPr>
        <a:xfrm>
          <a:off x="0" y="0"/>
          <a:ext cx="0" cy="0"/>
          <a:chOff x="0" y="0"/>
          <a:chExt cx="0" cy="0"/>
        </a:xfrm>
      </p:grpSpPr>
      <p:sp>
        <p:nvSpPr>
          <p:cNvPr id="2" name="Text 0"/>
          <p:cNvSpPr/>
          <p:nvPr/>
        </p:nvSpPr>
        <p:spPr>
          <a:xfrm>
            <a:off x="812800" y="812800"/>
            <a:ext cx="701141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7263D"/>
                </a:solidFill>
                <a:latin typeface="Nunito Sans" pitchFamily="34" charset="0"/>
                <a:ea typeface="Nunito Sans" pitchFamily="34" charset="-122"/>
                <a:cs typeface="Nunito Sans" pitchFamily="34" charset="-120"/>
              </a:rPr>
              <a:t>UNFALLMELDUNG</a:t>
            </a:r>
            <a:endParaRPr lang="en-US" sz="1200" dirty="0"/>
          </a:p>
        </p:txBody>
      </p:sp>
      <p:sp>
        <p:nvSpPr>
          <p:cNvPr id="3" name="Text 1"/>
          <p:cNvSpPr/>
          <p:nvPr>
            <p:ph type="title"/>
          </p:nvPr>
        </p:nvSpPr>
        <p:spPr>
          <a:xfrm>
            <a:off x="812800" y="1127764"/>
            <a:ext cx="7011416"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Unfall melden in 14 Schritten</a:t>
            </a:r>
            <a:endParaRPr lang="en-US" sz="3600" dirty="0"/>
          </a:p>
        </p:txBody>
      </p:sp>
      <p:sp>
        <p:nvSpPr>
          <p:cNvPr id="4" name="Shape 2"/>
          <p:cNvSpPr/>
          <p:nvPr/>
        </p:nvSpPr>
        <p:spPr>
          <a:xfrm>
            <a:off x="812800" y="2441575"/>
            <a:ext cx="6807200" cy="0"/>
          </a:xfrm>
          <a:prstGeom prst="line">
            <a:avLst/>
          </a:prstGeom>
          <a:noFill/>
          <a:ln w="6350">
            <a:solidFill>
              <a:srgbClr val="D5DEEE"/>
            </a:solidFill>
            <a:prstDash val="solid"/>
          </a:ln>
        </p:spPr>
      </p:sp>
      <p:sp>
        <p:nvSpPr>
          <p:cNvPr id="5" name="Text 3"/>
          <p:cNvSpPr/>
          <p:nvPr/>
        </p:nvSpPr>
        <p:spPr>
          <a:xfrm>
            <a:off x="812800" y="2545085"/>
            <a:ext cx="863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1–2</a:t>
            </a:r>
            <a:endParaRPr lang="en-US" sz="1600" dirty="0"/>
          </a:p>
        </p:txBody>
      </p:sp>
      <p:sp>
        <p:nvSpPr>
          <p:cNvPr id="6" name="Text 4"/>
          <p:cNvSpPr/>
          <p:nvPr/>
        </p:nvSpPr>
        <p:spPr>
          <a:xfrm>
            <a:off x="1778000" y="2545085"/>
            <a:ext cx="53741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Unfallmeldung im Menü öffnen, Unfallart wählen</a:t>
            </a:r>
            <a:endParaRPr lang="en-US" sz="1600" dirty="0"/>
          </a:p>
        </p:txBody>
      </p:sp>
      <p:sp>
        <p:nvSpPr>
          <p:cNvPr id="7" name="Shape 5"/>
          <p:cNvSpPr/>
          <p:nvPr/>
        </p:nvSpPr>
        <p:spPr>
          <a:xfrm>
            <a:off x="812800" y="2959733"/>
            <a:ext cx="6807200" cy="0"/>
          </a:xfrm>
          <a:prstGeom prst="line">
            <a:avLst/>
          </a:prstGeom>
          <a:noFill/>
          <a:ln w="6350">
            <a:solidFill>
              <a:srgbClr val="D5DEEE"/>
            </a:solidFill>
            <a:prstDash val="solid"/>
          </a:ln>
        </p:spPr>
      </p:sp>
      <p:sp>
        <p:nvSpPr>
          <p:cNvPr id="8" name="Text 6"/>
          <p:cNvSpPr/>
          <p:nvPr/>
        </p:nvSpPr>
        <p:spPr>
          <a:xfrm>
            <a:off x="812800" y="3063242"/>
            <a:ext cx="863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3–4</a:t>
            </a:r>
            <a:endParaRPr lang="en-US" sz="1600" dirty="0"/>
          </a:p>
        </p:txBody>
      </p:sp>
      <p:sp>
        <p:nvSpPr>
          <p:cNvPr id="9" name="Text 7"/>
          <p:cNvSpPr/>
          <p:nvPr/>
        </p:nvSpPr>
        <p:spPr>
          <a:xfrm>
            <a:off x="1778000" y="3063242"/>
            <a:ext cx="58420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Angeben, ob jemand verletzt ist und ob es Zeugen gibt</a:t>
            </a:r>
            <a:endParaRPr lang="en-US" sz="1600" dirty="0"/>
          </a:p>
        </p:txBody>
      </p:sp>
      <p:sp>
        <p:nvSpPr>
          <p:cNvPr id="10" name="Shape 8"/>
          <p:cNvSpPr/>
          <p:nvPr/>
        </p:nvSpPr>
        <p:spPr>
          <a:xfrm>
            <a:off x="812800" y="3477902"/>
            <a:ext cx="6807200" cy="0"/>
          </a:xfrm>
          <a:prstGeom prst="line">
            <a:avLst/>
          </a:prstGeom>
          <a:noFill/>
          <a:ln w="6350">
            <a:solidFill>
              <a:srgbClr val="D5DEEE"/>
            </a:solidFill>
            <a:prstDash val="solid"/>
          </a:ln>
        </p:spPr>
      </p:sp>
      <p:sp>
        <p:nvSpPr>
          <p:cNvPr id="11" name="Text 9"/>
          <p:cNvSpPr/>
          <p:nvPr/>
        </p:nvSpPr>
        <p:spPr>
          <a:xfrm>
            <a:off x="812800" y="3581400"/>
            <a:ext cx="863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5–6</a:t>
            </a:r>
            <a:endParaRPr lang="en-US" sz="1600" dirty="0"/>
          </a:p>
        </p:txBody>
      </p:sp>
      <p:sp>
        <p:nvSpPr>
          <p:cNvPr id="12" name="Text 10"/>
          <p:cNvSpPr/>
          <p:nvPr/>
        </p:nvSpPr>
        <p:spPr>
          <a:xfrm>
            <a:off x="1778000" y="3581400"/>
            <a:ext cx="58420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Eigenes Fahrzeug prüfen, anderes Fahrzeug eintragen</a:t>
            </a:r>
            <a:endParaRPr lang="en-US" sz="1600" dirty="0"/>
          </a:p>
        </p:txBody>
      </p:sp>
      <p:sp>
        <p:nvSpPr>
          <p:cNvPr id="13" name="Shape 11"/>
          <p:cNvSpPr/>
          <p:nvPr/>
        </p:nvSpPr>
        <p:spPr>
          <a:xfrm>
            <a:off x="812800" y="3996060"/>
            <a:ext cx="6807200" cy="0"/>
          </a:xfrm>
          <a:prstGeom prst="line">
            <a:avLst/>
          </a:prstGeom>
          <a:noFill/>
          <a:ln w="6350">
            <a:solidFill>
              <a:srgbClr val="D5DEEE"/>
            </a:solidFill>
            <a:prstDash val="solid"/>
          </a:ln>
        </p:spPr>
      </p:sp>
      <p:sp>
        <p:nvSpPr>
          <p:cNvPr id="14" name="Text 12"/>
          <p:cNvSpPr/>
          <p:nvPr/>
        </p:nvSpPr>
        <p:spPr>
          <a:xfrm>
            <a:off x="812800" y="4099558"/>
            <a:ext cx="863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7–8</a:t>
            </a:r>
            <a:endParaRPr lang="en-US" sz="1600" dirty="0"/>
          </a:p>
        </p:txBody>
      </p:sp>
      <p:sp>
        <p:nvSpPr>
          <p:cNvPr id="15" name="Text 13"/>
          <p:cNvSpPr/>
          <p:nvPr/>
        </p:nvSpPr>
        <p:spPr>
          <a:xfrm>
            <a:off x="1778000" y="4099558"/>
            <a:ext cx="532685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Unfallhergang wählen und Unfallskizze zeichnen</a:t>
            </a:r>
            <a:endParaRPr lang="en-US" sz="1600" dirty="0"/>
          </a:p>
        </p:txBody>
      </p:sp>
      <p:sp>
        <p:nvSpPr>
          <p:cNvPr id="16" name="Shape 14"/>
          <p:cNvSpPr/>
          <p:nvPr/>
        </p:nvSpPr>
        <p:spPr>
          <a:xfrm>
            <a:off x="812800" y="4514217"/>
            <a:ext cx="6807200" cy="0"/>
          </a:xfrm>
          <a:prstGeom prst="line">
            <a:avLst/>
          </a:prstGeom>
          <a:noFill/>
          <a:ln w="6350">
            <a:solidFill>
              <a:srgbClr val="D5DEEE"/>
            </a:solidFill>
            <a:prstDash val="solid"/>
          </a:ln>
        </p:spPr>
      </p:sp>
      <p:sp>
        <p:nvSpPr>
          <p:cNvPr id="17" name="Text 15"/>
          <p:cNvSpPr/>
          <p:nvPr/>
        </p:nvSpPr>
        <p:spPr>
          <a:xfrm>
            <a:off x="812800" y="4617727"/>
            <a:ext cx="863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9–11</a:t>
            </a:r>
            <a:endParaRPr lang="en-US" sz="1600" dirty="0"/>
          </a:p>
        </p:txBody>
      </p:sp>
      <p:sp>
        <p:nvSpPr>
          <p:cNvPr id="18" name="Text 16"/>
          <p:cNvSpPr/>
          <p:nvPr/>
        </p:nvSpPr>
        <p:spPr>
          <a:xfrm>
            <a:off x="1778000" y="4617727"/>
            <a:ext cx="58420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Schäden markieren, Fotos aufnehmen, Hergang erklären</a:t>
            </a:r>
            <a:endParaRPr lang="en-US" sz="1600" dirty="0"/>
          </a:p>
        </p:txBody>
      </p:sp>
      <p:sp>
        <p:nvSpPr>
          <p:cNvPr id="19" name="Shape 17"/>
          <p:cNvSpPr/>
          <p:nvPr/>
        </p:nvSpPr>
        <p:spPr>
          <a:xfrm>
            <a:off x="812800" y="5032375"/>
            <a:ext cx="6807200" cy="0"/>
          </a:xfrm>
          <a:prstGeom prst="line">
            <a:avLst/>
          </a:prstGeom>
          <a:noFill/>
          <a:ln w="6350">
            <a:solidFill>
              <a:srgbClr val="D5DEEE"/>
            </a:solidFill>
            <a:prstDash val="solid"/>
          </a:ln>
        </p:spPr>
      </p:sp>
      <p:sp>
        <p:nvSpPr>
          <p:cNvPr id="20" name="Text 18"/>
          <p:cNvSpPr/>
          <p:nvPr/>
        </p:nvSpPr>
        <p:spPr>
          <a:xfrm>
            <a:off x="812800" y="5135885"/>
            <a:ext cx="863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5FE0"/>
                </a:solidFill>
                <a:latin typeface="Montserrat" pitchFamily="34" charset="0"/>
                <a:ea typeface="Montserrat" pitchFamily="34" charset="-122"/>
                <a:cs typeface="Montserrat" pitchFamily="34" charset="-120"/>
              </a:rPr>
              <a:t>12–14</a:t>
            </a:r>
            <a:endParaRPr lang="en-US" sz="1600" dirty="0"/>
          </a:p>
        </p:txBody>
      </p:sp>
      <p:sp>
        <p:nvSpPr>
          <p:cNvPr id="21" name="Text 19"/>
          <p:cNvSpPr/>
          <p:nvPr/>
        </p:nvSpPr>
        <p:spPr>
          <a:xfrm>
            <a:off x="1778000" y="5135885"/>
            <a:ext cx="58420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66"/>
                </a:solidFill>
                <a:latin typeface="Nunito Sans" pitchFamily="34" charset="0"/>
                <a:ea typeface="Nunito Sans" pitchFamily="34" charset="-122"/>
                <a:cs typeface="Nunito Sans" pitchFamily="34" charset="-120"/>
              </a:rPr>
              <a:t>Zusammenfassung prüfen, unterschreiben, abschließen</a:t>
            </a:r>
            <a:endParaRPr lang="en-US" sz="1600" dirty="0"/>
          </a:p>
        </p:txBody>
      </p:sp>
      <p:pic>
        <p:nvPicPr>
          <p:cNvPr id="22" name="Image 0" descr="Anleitung Unfallmeldung – Schritt für Schritt erklärt: 14 Handy-Screenshots von „Unfallmeldung öffnen“ bis „Unfallmeldung abschließen“ und ein Kasten mit wichtigen Hinweisen">    </p:cNvPr>
          <p:cNvPicPr>
            <a:picLocks noChangeAspect="1"/>
          </p:cNvPicPr>
          <p:nvPr/>
        </p:nvPicPr>
        <p:blipFill>
          <a:blip r:embed="rId1"/>
          <a:srcRect l="0" r="0" t="0" b="0"/>
          <a:stretch/>
        </p:blipFill>
        <p:spPr>
          <a:xfrm>
            <a:off x="8026400" y="812800"/>
            <a:ext cx="3352800" cy="5029200"/>
          </a:xfrm>
          <a:prstGeom prst="roundRect">
            <a:avLst>
              <a:gd name="adj" fmla="val 3030"/>
            </a:avLst>
          </a:prstGeom>
          <a:effectLst>
            <a:outerShdw sx="100000" sy="100000" kx="0" ky="0" algn="bl" rotWithShape="0" blurRad="254000" dist="76200" dir="5400000">
              <a:srgbClr val="0E1F4D">
                <a:alpha val="18000"/>
              </a:srgbClr>
            </a:outerShdw>
          </a:effectLst>
        </p:spPr>
      </p:pic>
      <p:sp>
        <p:nvSpPr>
          <p:cNvPr id="23" name="Text 20"/>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4" name="Text 2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F4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A8FF"/>
                </a:solidFill>
                <a:latin typeface="Nunito Sans" pitchFamily="34" charset="0"/>
                <a:ea typeface="Nunito Sans" pitchFamily="34" charset="-122"/>
                <a:cs typeface="Nunito Sans" pitchFamily="34" charset="-120"/>
              </a:rPr>
              <a:t>UNFALLMELDUNG</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6FB"/>
                </a:solidFill>
                <a:latin typeface="Montserrat" pitchFamily="34" charset="0"/>
                <a:ea typeface="Montserrat" pitchFamily="34" charset="-122"/>
                <a:cs typeface="Montserrat" pitchFamily="34" charset="-120"/>
              </a:rPr>
              <a:t>Darauf kommt es an</a:t>
            </a:r>
            <a:endParaRPr lang="en-US" sz="3600" dirty="0"/>
          </a:p>
        </p:txBody>
      </p:sp>
      <p:pic>
        <p:nvPicPr>
          <p:cNvPr id="4" name="Image 0" descr="CheckCircle">    </p:cNvPr>
          <p:cNvPicPr>
            <a:picLocks noChangeAspect="1"/>
          </p:cNvPicPr>
          <p:nvPr/>
        </p:nvPicPr>
        <p:blipFill>
          <a:blip r:embed="rId1"/>
          <a:srcRect l="0" r="0" t="0" b="0"/>
          <a:stretch/>
        </p:blipFill>
        <p:spPr>
          <a:xfrm>
            <a:off x="812800" y="2001527"/>
            <a:ext cx="254000" cy="254000"/>
          </a:xfrm>
          <a:prstGeom prst="rect">
            <a:avLst/>
          </a:prstGeom>
        </p:spPr>
      </p:pic>
      <p:sp>
        <p:nvSpPr>
          <p:cNvPr id="5" name="Text 2"/>
          <p:cNvSpPr/>
          <p:nvPr/>
        </p:nvSpPr>
        <p:spPr>
          <a:xfrm>
            <a:off x="1193800" y="1986285"/>
            <a:ext cx="517645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Alle Angaben vollständig und wahrheitsgemäß</a:t>
            </a:r>
            <a:endParaRPr lang="en-US" sz="1600" dirty="0"/>
          </a:p>
        </p:txBody>
      </p:sp>
      <p:pic>
        <p:nvPicPr>
          <p:cNvPr id="6" name="Image 1" descr="CheckCircle">    </p:cNvPr>
          <p:cNvPicPr>
            <a:picLocks noChangeAspect="1"/>
          </p:cNvPicPr>
          <p:nvPr/>
        </p:nvPicPr>
        <p:blipFill>
          <a:blip r:embed="rId2"/>
          <a:srcRect l="0" r="0" t="0" b="0"/>
          <a:stretch/>
        </p:blipFill>
        <p:spPr>
          <a:xfrm>
            <a:off x="812800" y="2463800"/>
            <a:ext cx="254000" cy="254000"/>
          </a:xfrm>
          <a:prstGeom prst="rect">
            <a:avLst/>
          </a:prstGeom>
        </p:spPr>
      </p:pic>
      <p:sp>
        <p:nvSpPr>
          <p:cNvPr id="7" name="Text 3"/>
          <p:cNvSpPr/>
          <p:nvPr/>
        </p:nvSpPr>
        <p:spPr>
          <a:xfrm>
            <a:off x="1193800" y="2448558"/>
            <a:ext cx="518788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Sichtbare Schäden möglichst mit Fotos belegen</a:t>
            </a:r>
            <a:endParaRPr lang="en-US" sz="1600" dirty="0"/>
          </a:p>
        </p:txBody>
      </p:sp>
      <p:pic>
        <p:nvPicPr>
          <p:cNvPr id="8" name="Image 2" descr="CheckCircle">    </p:cNvPr>
          <p:cNvPicPr>
            <a:picLocks noChangeAspect="1"/>
          </p:cNvPicPr>
          <p:nvPr/>
        </p:nvPicPr>
        <p:blipFill>
          <a:blip r:embed="rId3"/>
          <a:srcRect l="0" r="0" t="0" b="0"/>
          <a:stretch/>
        </p:blipFill>
        <p:spPr>
          <a:xfrm>
            <a:off x="812800" y="2926085"/>
            <a:ext cx="254000" cy="254000"/>
          </a:xfrm>
          <a:prstGeom prst="rect">
            <a:avLst/>
          </a:prstGeom>
        </p:spPr>
      </p:pic>
      <p:sp>
        <p:nvSpPr>
          <p:cNvPr id="9" name="Text 4"/>
          <p:cNvSpPr/>
          <p:nvPr/>
        </p:nvSpPr>
        <p:spPr>
          <a:xfrm>
            <a:off x="1193800" y="2910842"/>
            <a:ext cx="439007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Eine verständliche Unfallskizze erstellen</a:t>
            </a:r>
            <a:endParaRPr lang="en-US" sz="1600" dirty="0"/>
          </a:p>
        </p:txBody>
      </p:sp>
      <p:pic>
        <p:nvPicPr>
          <p:cNvPr id="10" name="Image 3" descr="CheckCircle">    </p:cNvPr>
          <p:cNvPicPr>
            <a:picLocks noChangeAspect="1"/>
          </p:cNvPicPr>
          <p:nvPr/>
        </p:nvPicPr>
        <p:blipFill>
          <a:blip r:embed="rId4"/>
          <a:srcRect l="0" r="0" t="0" b="0"/>
          <a:stretch/>
        </p:blipFill>
        <p:spPr>
          <a:xfrm>
            <a:off x="812800" y="3388358"/>
            <a:ext cx="254000" cy="254000"/>
          </a:xfrm>
          <a:prstGeom prst="rect">
            <a:avLst/>
          </a:prstGeom>
        </p:spPr>
      </p:pic>
      <p:sp>
        <p:nvSpPr>
          <p:cNvPr id="11" name="Text 5"/>
          <p:cNvSpPr/>
          <p:nvPr/>
        </p:nvSpPr>
        <p:spPr>
          <a:xfrm>
            <a:off x="1193800" y="3373127"/>
            <a:ext cx="510635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Alle Angaben vor dem Abschluss kontrollieren</a:t>
            </a:r>
            <a:endParaRPr lang="en-US" sz="1600" dirty="0"/>
          </a:p>
        </p:txBody>
      </p:sp>
      <p:pic>
        <p:nvPicPr>
          <p:cNvPr id="12" name="Image 4" descr="CheckCircle">    </p:cNvPr>
          <p:cNvPicPr>
            <a:picLocks noChangeAspect="1"/>
          </p:cNvPicPr>
          <p:nvPr/>
        </p:nvPicPr>
        <p:blipFill>
          <a:blip r:embed="rId5"/>
          <a:srcRect l="0" r="0" t="0" b="0"/>
          <a:stretch/>
        </p:blipFill>
        <p:spPr>
          <a:xfrm>
            <a:off x="812800" y="3850642"/>
            <a:ext cx="254000" cy="254000"/>
          </a:xfrm>
          <a:prstGeom prst="rect">
            <a:avLst/>
          </a:prstGeom>
        </p:spPr>
      </p:pic>
      <p:sp>
        <p:nvSpPr>
          <p:cNvPr id="13" name="Text 6"/>
          <p:cNvSpPr/>
          <p:nvPr/>
        </p:nvSpPr>
        <p:spPr>
          <a:xfrm>
            <a:off x="1193800" y="3835400"/>
            <a:ext cx="466667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Die Unfallmeldung gibt es nur auf Deutsch</a:t>
            </a:r>
            <a:endParaRPr lang="en-US" sz="1600" dirty="0"/>
          </a:p>
        </p:txBody>
      </p:sp>
      <p:sp>
        <p:nvSpPr>
          <p:cNvPr id="14" name="Shape 7"/>
          <p:cNvSpPr/>
          <p:nvPr/>
        </p:nvSpPr>
        <p:spPr>
          <a:xfrm>
            <a:off x="7569200" y="1986285"/>
            <a:ext cx="3810000" cy="2703830"/>
          </a:xfrm>
          <a:prstGeom prst="roundRect">
            <a:avLst>
              <a:gd name="adj" fmla="val 5636"/>
            </a:avLst>
          </a:prstGeom>
          <a:solidFill>
            <a:srgbClr val="1A2E66"/>
          </a:solidFill>
          <a:ln/>
        </p:spPr>
      </p:sp>
      <p:sp>
        <p:nvSpPr>
          <p:cNvPr id="15" name="Text 8"/>
          <p:cNvSpPr/>
          <p:nvPr/>
        </p:nvSpPr>
        <p:spPr>
          <a:xfrm>
            <a:off x="7823200" y="2240285"/>
            <a:ext cx="34010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6FB"/>
                </a:solidFill>
                <a:latin typeface="Montserrat" pitchFamily="34" charset="0"/>
                <a:ea typeface="Montserrat" pitchFamily="34" charset="-122"/>
                <a:cs typeface="Montserrat" pitchFamily="34" charset="-120"/>
              </a:rPr>
              <a:t>Nach dem Abschluss</a:t>
            </a:r>
            <a:endParaRPr lang="en-US" sz="1600" dirty="0"/>
          </a:p>
        </p:txBody>
      </p:sp>
      <p:sp>
        <p:nvSpPr>
          <p:cNvPr id="16" name="Text 9"/>
          <p:cNvSpPr/>
          <p:nvPr/>
        </p:nvSpPr>
        <p:spPr>
          <a:xfrm>
            <a:off x="7823200" y="2611127"/>
            <a:ext cx="3401060" cy="1163320"/>
          </a:xfrm>
          <a:prstGeom prst="rect">
            <a:avLst/>
          </a:prstGeom>
          <a:noFill/>
          <a:ln/>
        </p:spPr>
        <p:txBody>
          <a:bodyPr wrap="square" lIns="0" tIns="0" rIns="0" bIns="0" rtlCol="0" anchor="t">
            <a:normAutofit/>
          </a:bodyPr>
          <a:lstStyle/>
          <a:p>
            <a:pPr algn="l" marL="243840" indent="-189992">
              <a:lnSpc>
                <a:spcPts val="2240"/>
              </a:lnSpc>
              <a:buSzPct val="100000"/>
              <a:buChar char="•"/>
            </a:pPr>
            <a:r>
              <a:rPr lang="en-US" sz="1600" dirty="0">
                <a:solidFill>
                  <a:srgbClr val="B9C6E4"/>
                </a:solidFill>
                <a:latin typeface="Nunito Sans" pitchFamily="34" charset="0"/>
                <a:ea typeface="Nunito Sans" pitchFamily="34" charset="-122"/>
                <a:cs typeface="Nunito Sans" pitchFamily="34" charset="-120"/>
              </a:rPr>
              <a:t>Unfallbericht ansehen</a:t>
            </a:r>
            <a:endParaRPr lang="en-US" sz="1600" dirty="0"/>
          </a:p>
          <a:p>
            <a:pPr algn="l" marL="243840" indent="-189992">
              <a:lnSpc>
                <a:spcPts val="2240"/>
              </a:lnSpc>
              <a:buSzPct val="100000"/>
              <a:buChar char="•"/>
            </a:pPr>
            <a:r>
              <a:rPr lang="en-US" sz="1600" dirty="0">
                <a:solidFill>
                  <a:srgbClr val="B9C6E4"/>
                </a:solidFill>
                <a:latin typeface="Nunito Sans" pitchFamily="34" charset="0"/>
                <a:ea typeface="Nunito Sans" pitchFamily="34" charset="-122"/>
                <a:cs typeface="Nunito Sans" pitchFamily="34" charset="-120"/>
              </a:rPr>
              <a:t>Unfallmeldung bearbeiten</a:t>
            </a:r>
            <a:endParaRPr lang="en-US" sz="1600" dirty="0"/>
          </a:p>
          <a:p>
            <a:pPr algn="l" marL="243840" indent="-189992">
              <a:lnSpc>
                <a:spcPts val="2240"/>
              </a:lnSpc>
              <a:buSzPct val="100000"/>
              <a:buChar char="•"/>
            </a:pPr>
            <a:r>
              <a:rPr lang="en-US" sz="1600" dirty="0">
                <a:solidFill>
                  <a:srgbClr val="B9C6E4"/>
                </a:solidFill>
                <a:latin typeface="Nunito Sans" pitchFamily="34" charset="0"/>
                <a:ea typeface="Nunito Sans" pitchFamily="34" charset="-122"/>
                <a:cs typeface="Nunito Sans" pitchFamily="34" charset="-120"/>
              </a:rPr>
              <a:t>PDF herunterladen</a:t>
            </a:r>
            <a:endParaRPr lang="en-US" sz="1600" dirty="0"/>
          </a:p>
          <a:p>
            <a:pPr algn="l" marL="243840" indent="-189992">
              <a:lnSpc>
                <a:spcPts val="2240"/>
              </a:lnSpc>
              <a:buSzPct val="100000"/>
              <a:buChar char="•"/>
            </a:pPr>
            <a:r>
              <a:rPr lang="en-US" sz="1600" dirty="0">
                <a:solidFill>
                  <a:srgbClr val="B9C6E4"/>
                </a:solidFill>
                <a:latin typeface="Nunito Sans" pitchFamily="34" charset="0"/>
                <a:ea typeface="Nunito Sans" pitchFamily="34" charset="-122"/>
                <a:cs typeface="Nunito Sans" pitchFamily="34" charset="-120"/>
              </a:rPr>
              <a:t>Teilen und exportieren</a:t>
            </a:r>
            <a:endParaRPr lang="en-US" sz="1600" dirty="0"/>
          </a:p>
        </p:txBody>
      </p:sp>
      <p:pic>
        <p:nvPicPr>
          <p:cNvPr id="17" name="Image 5" descr="line">    </p:cNvPr>
          <p:cNvPicPr>
            <a:picLocks noChangeAspect="1"/>
          </p:cNvPicPr>
          <p:nvPr/>
        </p:nvPicPr>
        <p:blipFill>
          <a:blip r:embed="rId6"/>
          <a:srcRect l="0" r="0" t="0" b="0"/>
          <a:stretch/>
        </p:blipFill>
        <p:spPr>
          <a:xfrm>
            <a:off x="7823200" y="3876042"/>
            <a:ext cx="3302000" cy="6350"/>
          </a:xfrm>
          <a:prstGeom prst="rect">
            <a:avLst/>
          </a:prstGeom>
        </p:spPr>
      </p:pic>
      <p:sp>
        <p:nvSpPr>
          <p:cNvPr id="18" name="Text 10"/>
          <p:cNvSpPr/>
          <p:nvPr/>
        </p:nvSpPr>
        <p:spPr>
          <a:xfrm>
            <a:off x="7823200" y="4009392"/>
            <a:ext cx="34010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E4"/>
                </a:solidFill>
                <a:latin typeface="Nunito Sans" pitchFamily="34" charset="0"/>
                <a:ea typeface="Nunito Sans" pitchFamily="34" charset="-122"/>
                <a:cs typeface="Nunito Sans" pitchFamily="34" charset="-120"/>
              </a:rPr>
              <a:t>Die Unterschrift bestätigt nur die erfassten Angaben – sie ist kein Schuldanerkenntnis.</a:t>
            </a:r>
            <a:endParaRPr lang="en-US" sz="1200" dirty="0"/>
          </a:p>
        </p:txBody>
      </p:sp>
      <p:sp>
        <p:nvSpPr>
          <p:cNvPr id="19" name="Text 11"/>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C8"/>
                </a:solidFill>
                <a:latin typeface="Nunito Sans" pitchFamily="34" charset="0"/>
                <a:ea typeface="Nunito Sans" pitchFamily="34" charset="-122"/>
                <a:cs typeface="Nunito Sans" pitchFamily="34" charset="-120"/>
              </a:rPr>
              <a:t>Fahrer App · Rica Service GmbH</a:t>
            </a:r>
            <a:endParaRPr lang="en-US" sz="1200" dirty="0"/>
          </a:p>
        </p:txBody>
      </p:sp>
      <p:sp>
        <p:nvSpPr>
          <p:cNvPr id="20" name="Text 1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C8"/>
                </a:solidFill>
                <a:latin typeface="Nunito Sans" pitchFamily="34" charset="0"/>
                <a:ea typeface="Nunito Sans" pitchFamily="34" charset="-122"/>
                <a:cs typeface="Nunito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A6B"/>
        </a:solidFill>
      </p:bgPr>
    </p:bg>
    <p:spTree>
      <p:nvGrpSpPr>
        <p:cNvPr id="1" name=""/>
        <p:cNvGrpSpPr/>
        <p:nvPr/>
      </p:nvGrpSpPr>
      <p:grpSpPr>
        <a:xfrm>
          <a:off x="0" y="0"/>
          <a:ext cx="0" cy="0"/>
          <a:chOff x="0" y="0"/>
          <a:chExt cx="0" cy="0"/>
        </a:xfrm>
      </p:grpSpPr>
      <p:pic>
        <p:nvPicPr>
          <p:cNvPr id="2" name="Image 0" descr="Unfallmeldung – richtig handeln, sicher weiterfahren. Unfälle passieren schnell, aber viele lassen sich vermeiden: angepasste Geschwindigkeit, Abstand halten, vorausschauend fahren, Pausen machen, keine Handys am Steuer, Wetter und Straße beachten, anschnallen, Rücksicht nehmen">    </p:cNvPr>
          <p:cNvPicPr>
            <a:picLocks noChangeAspect="1"/>
          </p:cNvPicPr>
          <p:nvPr/>
        </p:nvPicPr>
        <p:blipFill>
          <a:blip r:embed="rId1"/>
          <a:srcRect l="0" r="0" t="0" b="0"/>
          <a:stretch/>
        </p:blipFill>
        <p:spPr>
          <a:xfrm>
            <a:off x="0" y="381000"/>
            <a:ext cx="121920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UNTERWEGS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Auch ohne Netz einsatzbereit</a:t>
            </a:r>
            <a:endParaRPr lang="en-US" sz="3600" dirty="0"/>
          </a:p>
        </p:txBody>
      </p:sp>
      <p:sp>
        <p:nvSpPr>
          <p:cNvPr id="4" name="Shape 2"/>
          <p:cNvSpPr/>
          <p:nvPr/>
        </p:nvSpPr>
        <p:spPr>
          <a:xfrm>
            <a:off x="815975" y="1938660"/>
            <a:ext cx="3380264" cy="2371090"/>
          </a:xfrm>
          <a:prstGeom prst="roundRect">
            <a:avLst>
              <a:gd name="adj" fmla="val 6294"/>
            </a:avLst>
          </a:prstGeom>
          <a:solidFill>
            <a:srgbClr val="FBFCFE"/>
          </a:solidFill>
          <a:ln w="6350">
            <a:solidFill>
              <a:srgbClr val="D5DEEE"/>
            </a:solidFill>
            <a:prstDash val="solid"/>
          </a:ln>
        </p:spPr>
      </p:sp>
      <p:sp>
        <p:nvSpPr>
          <p:cNvPr id="5" name="Shape 3"/>
          <p:cNvSpPr/>
          <p:nvPr/>
        </p:nvSpPr>
        <p:spPr>
          <a:xfrm>
            <a:off x="1071880" y="2194558"/>
            <a:ext cx="457200" cy="457200"/>
          </a:xfrm>
          <a:prstGeom prst="roundRect">
            <a:avLst>
              <a:gd name="adj" fmla="val 27778"/>
            </a:avLst>
          </a:prstGeom>
          <a:solidFill>
            <a:srgbClr val="E6EDF8"/>
          </a:solidFill>
          <a:ln/>
        </p:spPr>
      </p:sp>
      <p:pic>
        <p:nvPicPr>
          <p:cNvPr id="6" name="Image 0" descr="Cloud">    </p:cNvPr>
          <p:cNvPicPr>
            <a:picLocks noChangeAspect="1"/>
          </p:cNvPicPr>
          <p:nvPr/>
        </p:nvPicPr>
        <p:blipFill>
          <a:blip r:embed="rId1"/>
          <a:srcRect l="0" r="0" t="0" b="0"/>
          <a:stretch/>
        </p:blipFill>
        <p:spPr>
          <a:xfrm>
            <a:off x="1173480" y="2296158"/>
            <a:ext cx="254000" cy="254000"/>
          </a:xfrm>
          <a:prstGeom prst="rect">
            <a:avLst/>
          </a:prstGeom>
        </p:spPr>
      </p:pic>
      <p:sp>
        <p:nvSpPr>
          <p:cNvPr id="7" name="Text 4"/>
          <p:cNvSpPr/>
          <p:nvPr/>
        </p:nvSpPr>
        <p:spPr>
          <a:xfrm>
            <a:off x="1071880" y="2804158"/>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Ohne Netz speichern</a:t>
            </a:r>
            <a:endParaRPr lang="en-US" sz="1600" dirty="0"/>
          </a:p>
        </p:txBody>
      </p:sp>
      <p:sp>
        <p:nvSpPr>
          <p:cNvPr id="8" name="Text 5"/>
          <p:cNvSpPr/>
          <p:nvPr/>
        </p:nvSpPr>
        <p:spPr>
          <a:xfrm>
            <a:off x="1071880" y="3200400"/>
            <a:ext cx="29545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Kontrolle, Übergabe und Unfallmeldung samt Fotos werden auf dem Handy gespeichert und automatisch hochgeladen, sobald wieder Netz da ist.</a:t>
            </a:r>
            <a:endParaRPr lang="en-US" sz="1200" dirty="0"/>
          </a:p>
        </p:txBody>
      </p:sp>
      <p:sp>
        <p:nvSpPr>
          <p:cNvPr id="9" name="Shape 6"/>
          <p:cNvSpPr/>
          <p:nvPr/>
        </p:nvSpPr>
        <p:spPr>
          <a:xfrm>
            <a:off x="4405789" y="1938660"/>
            <a:ext cx="3380343" cy="2371090"/>
          </a:xfrm>
          <a:prstGeom prst="roundRect">
            <a:avLst>
              <a:gd name="adj" fmla="val 6294"/>
            </a:avLst>
          </a:prstGeom>
          <a:solidFill>
            <a:srgbClr val="FBFCFE"/>
          </a:solidFill>
          <a:ln w="6350">
            <a:solidFill>
              <a:srgbClr val="D5DEEE"/>
            </a:solidFill>
            <a:prstDash val="solid"/>
          </a:ln>
        </p:spPr>
      </p:sp>
      <p:sp>
        <p:nvSpPr>
          <p:cNvPr id="10" name="Shape 7"/>
          <p:cNvSpPr/>
          <p:nvPr/>
        </p:nvSpPr>
        <p:spPr>
          <a:xfrm>
            <a:off x="4661694" y="2194558"/>
            <a:ext cx="457200" cy="457200"/>
          </a:xfrm>
          <a:prstGeom prst="roundRect">
            <a:avLst>
              <a:gd name="adj" fmla="val 27778"/>
            </a:avLst>
          </a:prstGeom>
          <a:solidFill>
            <a:srgbClr val="E6EDF8"/>
          </a:solidFill>
          <a:ln/>
        </p:spPr>
      </p:sp>
      <p:pic>
        <p:nvPicPr>
          <p:cNvPr id="11" name="Image 1" descr="Clock">    </p:cNvPr>
          <p:cNvPicPr>
            <a:picLocks noChangeAspect="1"/>
          </p:cNvPicPr>
          <p:nvPr/>
        </p:nvPicPr>
        <p:blipFill>
          <a:blip r:embed="rId2"/>
          <a:srcRect l="0" r="0" t="0" b="0"/>
          <a:stretch/>
        </p:blipFill>
        <p:spPr>
          <a:xfrm>
            <a:off x="4763294" y="2296158"/>
            <a:ext cx="254000" cy="254000"/>
          </a:xfrm>
          <a:prstGeom prst="rect">
            <a:avLst/>
          </a:prstGeom>
        </p:spPr>
      </p:pic>
      <p:sp>
        <p:nvSpPr>
          <p:cNvPr id="12" name="Text 8"/>
          <p:cNvSpPr/>
          <p:nvPr/>
        </p:nvSpPr>
        <p:spPr>
          <a:xfrm>
            <a:off x="4661694" y="2804158"/>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Letzter Stand</a:t>
            </a:r>
            <a:endParaRPr lang="en-US" sz="1600" dirty="0"/>
          </a:p>
        </p:txBody>
      </p:sp>
      <p:sp>
        <p:nvSpPr>
          <p:cNvPr id="13" name="Text 9"/>
          <p:cNvSpPr/>
          <p:nvPr/>
        </p:nvSpPr>
        <p:spPr>
          <a:xfrm>
            <a:off x="4661694" y="3200400"/>
            <a:ext cx="29545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Kontrollen, Mängel, Werkstatt, Bestand, Protokolle und Unfallmeldungen zeigen offline den zuletzt geladenen Stand.</a:t>
            </a:r>
            <a:endParaRPr lang="en-US" sz="1200" dirty="0"/>
          </a:p>
        </p:txBody>
      </p:sp>
      <p:sp>
        <p:nvSpPr>
          <p:cNvPr id="14" name="Shape 10"/>
          <p:cNvSpPr/>
          <p:nvPr/>
        </p:nvSpPr>
        <p:spPr>
          <a:xfrm>
            <a:off x="7995682" y="1938660"/>
            <a:ext cx="3380343" cy="2371090"/>
          </a:xfrm>
          <a:prstGeom prst="roundRect">
            <a:avLst>
              <a:gd name="adj" fmla="val 6294"/>
            </a:avLst>
          </a:prstGeom>
          <a:solidFill>
            <a:srgbClr val="FBFCFE"/>
          </a:solidFill>
          <a:ln w="6350">
            <a:solidFill>
              <a:srgbClr val="D5DEEE"/>
            </a:solidFill>
            <a:prstDash val="solid"/>
          </a:ln>
        </p:spPr>
      </p:sp>
      <p:sp>
        <p:nvSpPr>
          <p:cNvPr id="15" name="Shape 11"/>
          <p:cNvSpPr/>
          <p:nvPr/>
        </p:nvSpPr>
        <p:spPr>
          <a:xfrm>
            <a:off x="8251587" y="2194558"/>
            <a:ext cx="457200" cy="457200"/>
          </a:xfrm>
          <a:prstGeom prst="roundRect">
            <a:avLst>
              <a:gd name="adj" fmla="val 27778"/>
            </a:avLst>
          </a:prstGeom>
          <a:solidFill>
            <a:srgbClr val="E6EDF8"/>
          </a:solidFill>
          <a:ln/>
        </p:spPr>
      </p:sp>
      <p:pic>
        <p:nvPicPr>
          <p:cNvPr id="16" name="Image 2" descr="Chat">    </p:cNvPr>
          <p:cNvPicPr>
            <a:picLocks noChangeAspect="1"/>
          </p:cNvPicPr>
          <p:nvPr/>
        </p:nvPicPr>
        <p:blipFill>
          <a:blip r:embed="rId3"/>
          <a:srcRect l="0" r="0" t="0" b="0"/>
          <a:stretch/>
        </p:blipFill>
        <p:spPr>
          <a:xfrm>
            <a:off x="8353187" y="2296158"/>
            <a:ext cx="254000" cy="254000"/>
          </a:xfrm>
          <a:prstGeom prst="rect">
            <a:avLst/>
          </a:prstGeom>
        </p:spPr>
      </p:pic>
      <p:sp>
        <p:nvSpPr>
          <p:cNvPr id="17" name="Text 12"/>
          <p:cNvSpPr/>
          <p:nvPr/>
        </p:nvSpPr>
        <p:spPr>
          <a:xfrm>
            <a:off x="8251587" y="2804158"/>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Push-Nachrichten</a:t>
            </a:r>
            <a:endParaRPr lang="en-US" sz="1600" dirty="0"/>
          </a:p>
        </p:txBody>
      </p:sp>
      <p:sp>
        <p:nvSpPr>
          <p:cNvPr id="18" name="Text 13"/>
          <p:cNvSpPr/>
          <p:nvPr/>
        </p:nvSpPr>
        <p:spPr>
          <a:xfrm>
            <a:off x="8251587" y="3200400"/>
            <a:ext cx="295458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Die Android-App meldet sich mit Ton – auch wenn sie geschlossen ist, mit vollem Text auf dem Sperrbildschirm.</a:t>
            </a:r>
            <a:endParaRPr lang="en-US" sz="1200" dirty="0"/>
          </a:p>
        </p:txBody>
      </p:sp>
      <p:sp>
        <p:nvSpPr>
          <p:cNvPr id="19" name="Shape 14"/>
          <p:cNvSpPr/>
          <p:nvPr/>
        </p:nvSpPr>
        <p:spPr>
          <a:xfrm>
            <a:off x="812800" y="4617727"/>
            <a:ext cx="10566400" cy="660400"/>
          </a:xfrm>
          <a:prstGeom prst="roundRect">
            <a:avLst>
              <a:gd name="adj" fmla="val 23077"/>
            </a:avLst>
          </a:prstGeom>
          <a:solidFill>
            <a:srgbClr val="0E1F4D"/>
          </a:solidFill>
          <a:ln/>
        </p:spPr>
      </p:sp>
      <p:pic>
        <p:nvPicPr>
          <p:cNvPr id="20" name="Image 3" descr="Warning">    </p:cNvPr>
          <p:cNvPicPr>
            <a:picLocks noChangeAspect="1"/>
          </p:cNvPicPr>
          <p:nvPr/>
        </p:nvPicPr>
        <p:blipFill>
          <a:blip r:embed="rId4"/>
          <a:srcRect l="0" r="0" t="0" b="0"/>
          <a:stretch/>
        </p:blipFill>
        <p:spPr>
          <a:xfrm>
            <a:off x="1066800" y="4795527"/>
            <a:ext cx="304800" cy="304800"/>
          </a:xfrm>
          <a:prstGeom prst="rect">
            <a:avLst/>
          </a:prstGeom>
        </p:spPr>
      </p:pic>
      <p:sp>
        <p:nvSpPr>
          <p:cNvPr id="21" name="Text 15"/>
          <p:cNvSpPr/>
          <p:nvPr/>
        </p:nvSpPr>
        <p:spPr>
          <a:xfrm>
            <a:off x="1524000" y="4805685"/>
            <a:ext cx="933335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Bestellungen und Handkasse brauchen Netz – sie erscheinen wieder, sobald es da ist.</a:t>
            </a:r>
            <a:endParaRPr lang="en-US" sz="1600" dirty="0"/>
          </a:p>
        </p:txBody>
      </p:sp>
      <p:sp>
        <p:nvSpPr>
          <p:cNvPr id="22" name="Text 16"/>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23" name="Text 1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6E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INFORMIERT BLEIBEN</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Wissen, was wichtig ist</a:t>
            </a:r>
            <a:endParaRPr lang="en-US" sz="3600" dirty="0"/>
          </a:p>
        </p:txBody>
      </p:sp>
      <p:sp>
        <p:nvSpPr>
          <p:cNvPr id="4" name="Shape 2"/>
          <p:cNvSpPr/>
          <p:nvPr/>
        </p:nvSpPr>
        <p:spPr>
          <a:xfrm>
            <a:off x="812800" y="1935485"/>
            <a:ext cx="3386614" cy="3271520"/>
          </a:xfrm>
          <a:prstGeom prst="roundRect">
            <a:avLst>
              <a:gd name="adj" fmla="val 4658"/>
            </a:avLst>
          </a:prstGeom>
          <a:solidFill>
            <a:srgbClr val="FBFCFE"/>
          </a:solidFill>
          <a:ln/>
          <a:effectLst>
            <a:outerShdw sx="100000" sy="100000" kx="0" ky="0" algn="bl" rotWithShape="0" blurRad="101600" dist="25400" dir="5400000">
              <a:srgbClr val="0E1F4D">
                <a:alpha val="8000"/>
              </a:srgbClr>
            </a:outerShdw>
          </a:effectLst>
        </p:spPr>
      </p:sp>
      <p:pic>
        <p:nvPicPr>
          <p:cNvPr id="5" name="Image 0" descr="Mitteilungen – wichtige Informationen direkt vom Disponenten: Regionalleiter schreibt eine Mitteilung, Fahrer liest sie auf dem Handy">    </p:cNvPr>
          <p:cNvPicPr>
            <a:picLocks noChangeAspect="1"/>
          </p:cNvPicPr>
          <p:nvPr/>
        </p:nvPicPr>
        <p:blipFill>
          <a:blip r:embed="rId1"/>
          <a:srcRect l="5583" r="5583" t="0" b="0"/>
          <a:stretch/>
        </p:blipFill>
        <p:spPr>
          <a:xfrm>
            <a:off x="812800" y="1935485"/>
            <a:ext cx="3384550" cy="1905000"/>
          </a:xfrm>
          <a:custGeom>
            <a:avLst/>
            <a:gdLst/>
            <a:ahLst/>
            <a:cxnLst/>
            <a:rect l="l" t="t" r="r" b="b"/>
            <a:pathLst>
              <a:path w="3384550" h="1905000">
                <a:moveTo>
                  <a:pt x="0" y="152400"/>
                </a:moveTo>
                <a:arcTo wR="152400" hR="152400" stAng="10800000" swAng="5400000"/>
                <a:lnTo>
                  <a:pt x="3232150" y="0"/>
                </a:lnTo>
                <a:arcTo wR="152400" hR="152400" stAng="16200000" swAng="5400000"/>
                <a:lnTo>
                  <a:pt x="3384550" y="1905000"/>
                </a:lnTo>
                <a:lnTo>
                  <a:pt x="0" y="1905000"/>
                </a:lnTo>
                <a:close/>
              </a:path>
            </a:pathLst>
          </a:custGeom>
        </p:spPr>
      </p:pic>
      <p:sp>
        <p:nvSpPr>
          <p:cNvPr id="6" name="Text 3"/>
          <p:cNvSpPr/>
          <p:nvPr/>
        </p:nvSpPr>
        <p:spPr>
          <a:xfrm>
            <a:off x="1016000" y="4043685"/>
            <a:ext cx="30696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Mitteilungen</a:t>
            </a:r>
            <a:endParaRPr lang="en-US" sz="1600" dirty="0"/>
          </a:p>
        </p:txBody>
      </p:sp>
      <p:sp>
        <p:nvSpPr>
          <p:cNvPr id="7" name="Text 4"/>
          <p:cNvSpPr/>
          <p:nvPr/>
        </p:nvSpPr>
        <p:spPr>
          <a:xfrm>
            <a:off x="1016000" y="4363727"/>
            <a:ext cx="30696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Nachrichten vom Regionalleiter erscheinen beim Öffnen der App und werden mit „OK“ bestätigt.</a:t>
            </a:r>
            <a:endParaRPr lang="en-US" sz="1200" dirty="0"/>
          </a:p>
        </p:txBody>
      </p:sp>
      <p:sp>
        <p:nvSpPr>
          <p:cNvPr id="8" name="Shape 5"/>
          <p:cNvSpPr/>
          <p:nvPr/>
        </p:nvSpPr>
        <p:spPr>
          <a:xfrm>
            <a:off x="4402614" y="1935485"/>
            <a:ext cx="3386693" cy="3271520"/>
          </a:xfrm>
          <a:prstGeom prst="roundRect">
            <a:avLst>
              <a:gd name="adj" fmla="val 4658"/>
            </a:avLst>
          </a:prstGeom>
          <a:solidFill>
            <a:srgbClr val="FBFCFE"/>
          </a:solidFill>
          <a:ln/>
          <a:effectLst>
            <a:outerShdw sx="100000" sy="100000" kx="0" ky="0" algn="bl" rotWithShape="0" blurRad="101600" dist="25400" dir="5400000">
              <a:srgbClr val="0E1F4D">
                <a:alpha val="8000"/>
              </a:srgbClr>
            </a:outerShdw>
          </a:effectLst>
        </p:spPr>
      </p:sp>
      <p:pic>
        <p:nvPicPr>
          <p:cNvPr id="9" name="Image 1" descr="Arbeitsanweisung auf dem Handy mit Benachrichtigung, daneben ein Klemmbrett mit Checkliste und ein Rica-Lkw">    </p:cNvPr>
          <p:cNvPicPr>
            <a:picLocks noChangeAspect="1"/>
          </p:cNvPicPr>
          <p:nvPr/>
        </p:nvPicPr>
        <p:blipFill>
          <a:blip r:embed="rId2"/>
          <a:srcRect l="0" r="0" t="7786" b="7786"/>
          <a:stretch/>
        </p:blipFill>
        <p:spPr>
          <a:xfrm>
            <a:off x="4402614" y="1935485"/>
            <a:ext cx="3384550" cy="1905000"/>
          </a:xfrm>
          <a:custGeom>
            <a:avLst/>
            <a:gdLst/>
            <a:ahLst/>
            <a:cxnLst/>
            <a:rect l="l" t="t" r="r" b="b"/>
            <a:pathLst>
              <a:path w="3384550" h="1905000">
                <a:moveTo>
                  <a:pt x="0" y="152400"/>
                </a:moveTo>
                <a:arcTo wR="152400" hR="152400" stAng="10800000" swAng="5400000"/>
                <a:lnTo>
                  <a:pt x="3232150" y="0"/>
                </a:lnTo>
                <a:arcTo wR="152400" hR="152400" stAng="16200000" swAng="5400000"/>
                <a:lnTo>
                  <a:pt x="3384550" y="1905000"/>
                </a:lnTo>
                <a:lnTo>
                  <a:pt x="0" y="1905000"/>
                </a:lnTo>
                <a:close/>
              </a:path>
            </a:pathLst>
          </a:custGeom>
        </p:spPr>
      </p:pic>
      <p:sp>
        <p:nvSpPr>
          <p:cNvPr id="10" name="Text 6"/>
          <p:cNvSpPr/>
          <p:nvPr/>
        </p:nvSpPr>
        <p:spPr>
          <a:xfrm>
            <a:off x="4605814" y="4043685"/>
            <a:ext cx="306970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Arbeitsanweisung</a:t>
            </a:r>
            <a:endParaRPr lang="en-US" sz="1600" dirty="0"/>
          </a:p>
        </p:txBody>
      </p:sp>
      <p:sp>
        <p:nvSpPr>
          <p:cNvPr id="11" name="Text 7"/>
          <p:cNvSpPr/>
          <p:nvPr/>
        </p:nvSpPr>
        <p:spPr>
          <a:xfrm>
            <a:off x="4605814" y="4363727"/>
            <a:ext cx="306970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Regeln und Abläufe, z. B. Leerfahrten und Krankmeldungen. Neues wird mit „Gelesen – OK“ bestätigt.</a:t>
            </a:r>
            <a:endParaRPr lang="en-US" sz="1200" dirty="0"/>
          </a:p>
        </p:txBody>
      </p:sp>
      <p:sp>
        <p:nvSpPr>
          <p:cNvPr id="12" name="Shape 8"/>
          <p:cNvSpPr/>
          <p:nvPr/>
        </p:nvSpPr>
        <p:spPr>
          <a:xfrm>
            <a:off x="7992507" y="1935485"/>
            <a:ext cx="3386693" cy="3271520"/>
          </a:xfrm>
          <a:prstGeom prst="roundRect">
            <a:avLst>
              <a:gd name="adj" fmla="val 4658"/>
            </a:avLst>
          </a:prstGeom>
          <a:solidFill>
            <a:srgbClr val="FBFCFE"/>
          </a:solidFill>
          <a:ln/>
          <a:effectLst>
            <a:outerShdw sx="100000" sy="100000" kx="0" ky="0" algn="bl" rotWithShape="0" blurRad="101600" dist="25400" dir="5400000">
              <a:srgbClr val="0E1F4D">
                <a:alpha val="8000"/>
              </a:srgbClr>
            </a:outerShdw>
          </a:effectLst>
        </p:spPr>
      </p:sp>
      <p:pic>
        <p:nvPicPr>
          <p:cNvPr id="13" name="Image 2" descr="Kälte-Warnung: Rica-Lkw auf verschneiter Straße bei minus 2 Grad, Handy mit der Warnung „Morgen früh sehr kalt – bitte langsam und vorsichtig fahren“">    </p:cNvPr>
          <p:cNvPicPr>
            <a:picLocks noChangeAspect="1"/>
          </p:cNvPicPr>
          <p:nvPr/>
        </p:nvPicPr>
        <p:blipFill>
          <a:blip r:embed="rId3"/>
          <a:srcRect l="5583" r="5583" t="0" b="0"/>
          <a:stretch/>
        </p:blipFill>
        <p:spPr>
          <a:xfrm>
            <a:off x="7992507" y="1935485"/>
            <a:ext cx="3384550" cy="1905000"/>
          </a:xfrm>
          <a:custGeom>
            <a:avLst/>
            <a:gdLst/>
            <a:ahLst/>
            <a:cxnLst/>
            <a:rect l="l" t="t" r="r" b="b"/>
            <a:pathLst>
              <a:path w="3384550" h="1905000">
                <a:moveTo>
                  <a:pt x="0" y="152400"/>
                </a:moveTo>
                <a:arcTo wR="152400" hR="152400" stAng="10800000" swAng="5400000"/>
                <a:lnTo>
                  <a:pt x="3232150" y="0"/>
                </a:lnTo>
                <a:arcTo wR="152400" hR="152400" stAng="16200000" swAng="5400000"/>
                <a:lnTo>
                  <a:pt x="3384550" y="1905000"/>
                </a:lnTo>
                <a:lnTo>
                  <a:pt x="0" y="1905000"/>
                </a:lnTo>
                <a:close/>
              </a:path>
            </a:pathLst>
          </a:custGeom>
        </p:spPr>
      </p:pic>
      <p:sp>
        <p:nvSpPr>
          <p:cNvPr id="14" name="Text 9"/>
          <p:cNvSpPr/>
          <p:nvPr/>
        </p:nvSpPr>
        <p:spPr>
          <a:xfrm>
            <a:off x="8195707" y="4043685"/>
            <a:ext cx="306970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Kälte-Warnung</a:t>
            </a:r>
            <a:endParaRPr lang="en-US" sz="1600" dirty="0"/>
          </a:p>
        </p:txBody>
      </p:sp>
      <p:sp>
        <p:nvSpPr>
          <p:cNvPr id="15" name="Text 10"/>
          <p:cNvSpPr/>
          <p:nvPr/>
        </p:nvSpPr>
        <p:spPr>
          <a:xfrm>
            <a:off x="8195707" y="4363727"/>
            <a:ext cx="30697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Unter 3 °C kommt abends und früh morgens eine Glätte-Warnung aufs Handy.</a:t>
            </a:r>
            <a:endParaRPr lang="en-US" sz="1200" dirty="0"/>
          </a:p>
        </p:txBody>
      </p:sp>
      <p:sp>
        <p:nvSpPr>
          <p:cNvPr id="16" name="Text 11"/>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17" name="Text 1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AF1FB"/>
        </a:solidFill>
      </p:bgPr>
    </p:bg>
    <p:spTree>
      <p:nvGrpSpPr>
        <p:cNvPr id="1" name=""/>
        <p:cNvGrpSpPr/>
        <p:nvPr/>
      </p:nvGrpSpPr>
      <p:grpSpPr>
        <a:xfrm>
          <a:off x="0" y="0"/>
          <a:ext cx="0" cy="0"/>
          <a:chOff x="0" y="0"/>
          <a:chExt cx="0" cy="0"/>
        </a:xfrm>
      </p:grpSpPr>
      <p:pic>
        <p:nvPicPr>
          <p:cNvPr id="2" name="Image 0" descr="Anleitung Einstellungen: Mein Fahrzeug, zusätzliche Angaben, Pflichtdaten speichern, roter Hinweis bei fehlenden Feldern, Abmelden, Benutzertyp und Region, Datenschutz und Impressum">    </p:cNvPr>
          <p:cNvPicPr>
            <a:picLocks noChangeAspect="1"/>
          </p:cNvPicPr>
          <p:nvPr/>
        </p:nvPicPr>
        <p:blipFill>
          <a:blip r:embed="rId1"/>
          <a:srcRect l="0" r="0" t="27" b="27"/>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AF1FB"/>
        </a:solidFill>
      </p:bgPr>
    </p:bg>
    <p:spTree>
      <p:nvGrpSpPr>
        <p:cNvPr id="1" name=""/>
        <p:cNvGrpSpPr/>
        <p:nvPr/>
      </p:nvGrpSpPr>
      <p:grpSpPr>
        <a:xfrm>
          <a:off x="0" y="0"/>
          <a:ext cx="0" cy="0"/>
          <a:chOff x="0" y="0"/>
          <a:chExt cx="0" cy="0"/>
        </a:xfrm>
      </p:grpSpPr>
      <p:pic>
        <p:nvPicPr>
          <p:cNvPr id="2" name="Image 0" descr="Anleitung Spritpreise: Kraftstoffsorte wählen, Suchradius festlegen, Sortierung wählen, Standort ermitteln, Tankstellenliste mit günstigster Tankstelle oben, Navigation mit Google Maps">    </p:cNvPr>
          <p:cNvPicPr>
            <a:picLocks noChangeAspect="1"/>
          </p:cNvPicPr>
          <p:nvPr/>
        </p:nvPicPr>
        <p:blipFill>
          <a:blip r:embed="rId1"/>
          <a:srcRect l="0" r="0" t="27" b="27"/>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6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BESTELLUNGEN</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Bestellen und verfolgen</a:t>
            </a:r>
            <a:endParaRPr lang="en-US" sz="3600" dirty="0"/>
          </a:p>
        </p:txBody>
      </p:sp>
      <p:pic>
        <p:nvPicPr>
          <p:cNvPr id="4" name="Image 0" descr="Alles für den Einsatz – einfach bestellen, schnell geliefert: Säcke 1000 und 2000 Liter, Papier-Presse-Bänder, ESG-Scheine und Arbeitskleidung">    </p:cNvPr>
          <p:cNvPicPr>
            <a:picLocks noChangeAspect="1"/>
          </p:cNvPicPr>
          <p:nvPr/>
        </p:nvPicPr>
        <p:blipFill>
          <a:blip r:embed="rId1"/>
          <a:srcRect l="0" r="0" t="0" b="0"/>
          <a:stretch/>
        </p:blipFill>
        <p:spPr>
          <a:xfrm>
            <a:off x="812800" y="1935485"/>
            <a:ext cx="6096000" cy="3429000"/>
          </a:xfrm>
          <a:prstGeom prst="roundRect">
            <a:avLst>
              <a:gd name="adj" fmla="val 3704"/>
            </a:avLst>
          </a:prstGeom>
        </p:spPr>
      </p:pic>
      <p:sp>
        <p:nvSpPr>
          <p:cNvPr id="5" name="Shape 2"/>
          <p:cNvSpPr/>
          <p:nvPr/>
        </p:nvSpPr>
        <p:spPr>
          <a:xfrm>
            <a:off x="7213600" y="1935485"/>
            <a:ext cx="355600" cy="355600"/>
          </a:xfrm>
          <a:prstGeom prst="roundRect">
            <a:avLst>
              <a:gd name="adj" fmla="val 28571"/>
            </a:avLst>
          </a:prstGeom>
          <a:solidFill>
            <a:srgbClr val="E6EDF8"/>
          </a:solidFill>
          <a:ln/>
        </p:spPr>
      </p:sp>
      <p:pic>
        <p:nvPicPr>
          <p:cNvPr id="6" name="Image 1" descr="PaperPlane">    </p:cNvPr>
          <p:cNvPicPr>
            <a:picLocks noChangeAspect="1"/>
          </p:cNvPicPr>
          <p:nvPr/>
        </p:nvPicPr>
        <p:blipFill>
          <a:blip r:embed="rId2"/>
          <a:srcRect l="0" r="0" t="0" b="0"/>
          <a:stretch/>
        </p:blipFill>
        <p:spPr>
          <a:xfrm>
            <a:off x="7289800" y="2011685"/>
            <a:ext cx="203200" cy="203200"/>
          </a:xfrm>
          <a:prstGeom prst="rect">
            <a:avLst/>
          </a:prstGeom>
        </p:spPr>
      </p:pic>
      <p:sp>
        <p:nvSpPr>
          <p:cNvPr id="7" name="Text 3"/>
          <p:cNvSpPr/>
          <p:nvPr/>
        </p:nvSpPr>
        <p:spPr>
          <a:xfrm>
            <a:off x="7696200" y="1935485"/>
            <a:ext cx="379349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Alles für den Einsatz</a:t>
            </a:r>
            <a:endParaRPr lang="en-US" sz="1600" dirty="0"/>
          </a:p>
        </p:txBody>
      </p:sp>
      <p:sp>
        <p:nvSpPr>
          <p:cNvPr id="8" name="Text 4"/>
          <p:cNvSpPr/>
          <p:nvPr/>
        </p:nvSpPr>
        <p:spPr>
          <a:xfrm>
            <a:off x="7696200" y="2217427"/>
            <a:ext cx="37934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Säcke 1000 L und 2000 L, Papier-Presse-Bänder, ESG-Scheine und Arbeitskleidung.</a:t>
            </a:r>
            <a:endParaRPr lang="en-US" sz="1200" dirty="0"/>
          </a:p>
        </p:txBody>
      </p:sp>
      <p:sp>
        <p:nvSpPr>
          <p:cNvPr id="9" name="Shape 5"/>
          <p:cNvSpPr/>
          <p:nvPr/>
        </p:nvSpPr>
        <p:spPr>
          <a:xfrm>
            <a:off x="7213600" y="2847342"/>
            <a:ext cx="355600" cy="355600"/>
          </a:xfrm>
          <a:prstGeom prst="roundRect">
            <a:avLst>
              <a:gd name="adj" fmla="val 28571"/>
            </a:avLst>
          </a:prstGeom>
          <a:solidFill>
            <a:srgbClr val="E6EDF8"/>
          </a:solidFill>
          <a:ln/>
        </p:spPr>
      </p:sp>
      <p:pic>
        <p:nvPicPr>
          <p:cNvPr id="10" name="Image 2" descr="Search">    </p:cNvPr>
          <p:cNvPicPr>
            <a:picLocks noChangeAspect="1"/>
          </p:cNvPicPr>
          <p:nvPr/>
        </p:nvPicPr>
        <p:blipFill>
          <a:blip r:embed="rId3"/>
          <a:srcRect l="0" r="0" t="0" b="0"/>
          <a:stretch/>
        </p:blipFill>
        <p:spPr>
          <a:xfrm>
            <a:off x="7289800" y="2923542"/>
            <a:ext cx="203200" cy="203200"/>
          </a:xfrm>
          <a:prstGeom prst="rect">
            <a:avLst/>
          </a:prstGeom>
        </p:spPr>
      </p:pic>
      <p:sp>
        <p:nvSpPr>
          <p:cNvPr id="11" name="Text 6"/>
          <p:cNvSpPr/>
          <p:nvPr/>
        </p:nvSpPr>
        <p:spPr>
          <a:xfrm>
            <a:off x="7696200" y="2847342"/>
            <a:ext cx="379349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Sendungsverfolgung</a:t>
            </a:r>
            <a:endParaRPr lang="en-US" sz="1600" dirty="0"/>
          </a:p>
        </p:txBody>
      </p:sp>
      <p:sp>
        <p:nvSpPr>
          <p:cNvPr id="12" name="Text 7"/>
          <p:cNvSpPr/>
          <p:nvPr/>
        </p:nvSpPr>
        <p:spPr>
          <a:xfrm>
            <a:off x="7696200" y="3129285"/>
            <a:ext cx="37934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DHL und DPD: Push und E-Mail bei „unterwegs“, „heute“ und „zugestellt“ – mit Zeitleiste.</a:t>
            </a:r>
            <a:endParaRPr lang="en-US" sz="1200" dirty="0"/>
          </a:p>
        </p:txBody>
      </p:sp>
      <p:sp>
        <p:nvSpPr>
          <p:cNvPr id="13" name="Shape 8"/>
          <p:cNvSpPr/>
          <p:nvPr/>
        </p:nvSpPr>
        <p:spPr>
          <a:xfrm>
            <a:off x="7213600" y="3759200"/>
            <a:ext cx="355600" cy="355600"/>
          </a:xfrm>
          <a:prstGeom prst="roundRect">
            <a:avLst>
              <a:gd name="adj" fmla="val 28571"/>
            </a:avLst>
          </a:prstGeom>
          <a:solidFill>
            <a:srgbClr val="E6EDF8"/>
          </a:solidFill>
          <a:ln/>
        </p:spPr>
      </p:sp>
      <p:pic>
        <p:nvPicPr>
          <p:cNvPr id="14" name="Image 3" descr="CheckCircle">    </p:cNvPr>
          <p:cNvPicPr>
            <a:picLocks noChangeAspect="1"/>
          </p:cNvPicPr>
          <p:nvPr/>
        </p:nvPicPr>
        <p:blipFill>
          <a:blip r:embed="rId4"/>
          <a:srcRect l="0" r="0" t="0" b="0"/>
          <a:stretch/>
        </p:blipFill>
        <p:spPr>
          <a:xfrm>
            <a:off x="7289800" y="3835400"/>
            <a:ext cx="203200" cy="203200"/>
          </a:xfrm>
          <a:prstGeom prst="rect">
            <a:avLst/>
          </a:prstGeom>
        </p:spPr>
      </p:pic>
      <p:sp>
        <p:nvSpPr>
          <p:cNvPr id="15" name="Text 9"/>
          <p:cNvSpPr/>
          <p:nvPr/>
        </p:nvSpPr>
        <p:spPr>
          <a:xfrm>
            <a:off x="7696200" y="3759200"/>
            <a:ext cx="379349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Teillieferung</a:t>
            </a:r>
            <a:endParaRPr lang="en-US" sz="1600" dirty="0"/>
          </a:p>
        </p:txBody>
      </p:sp>
      <p:sp>
        <p:nvSpPr>
          <p:cNvPr id="16" name="Text 10"/>
          <p:cNvSpPr/>
          <p:nvPr/>
        </p:nvSpPr>
        <p:spPr>
          <a:xfrm>
            <a:off x="7696200" y="4041142"/>
            <a:ext cx="37934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Was fehlt, wird nachgeliefert – bei jeder Änderung kommt eine Nachricht.</a:t>
            </a:r>
            <a:endParaRPr lang="en-US" sz="1200" dirty="0"/>
          </a:p>
        </p:txBody>
      </p:sp>
      <p:sp>
        <p:nvSpPr>
          <p:cNvPr id="17" name="Text 11"/>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18" name="Text 1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6ED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WEITERE BEREICHE</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Bestand, Handkasse, Einarbeitung</a:t>
            </a:r>
            <a:endParaRPr lang="en-US" sz="3600" dirty="0"/>
          </a:p>
        </p:txBody>
      </p:sp>
      <p:sp>
        <p:nvSpPr>
          <p:cNvPr id="4" name="Shape 2"/>
          <p:cNvSpPr/>
          <p:nvPr/>
        </p:nvSpPr>
        <p:spPr>
          <a:xfrm>
            <a:off x="812800" y="1935485"/>
            <a:ext cx="3386614" cy="3271520"/>
          </a:xfrm>
          <a:prstGeom prst="roundRect">
            <a:avLst>
              <a:gd name="adj" fmla="val 4658"/>
            </a:avLst>
          </a:prstGeom>
          <a:solidFill>
            <a:srgbClr val="FBFCFE"/>
          </a:solidFill>
          <a:ln/>
          <a:effectLst>
            <a:outerShdw sx="100000" sy="100000" kx="0" ky="0" algn="bl" rotWithShape="0" blurRad="101600" dist="25400" dir="5400000">
              <a:srgbClr val="0E1F4D">
                <a:alpha val="8000"/>
              </a:srgbClr>
            </a:outerShdw>
          </a:effectLst>
        </p:spPr>
      </p:sp>
      <p:pic>
        <p:nvPicPr>
          <p:cNvPr id="5" name="Image 0" descr="Fahrzeug-Bestandteile: Warnweste, Warndreieck, Verbandkasten, Feuerlöscher, Abschleppseil, Sicherungsstange, Bindemittel">    </p:cNvPr>
          <p:cNvPicPr>
            <a:picLocks noChangeAspect="1"/>
          </p:cNvPicPr>
          <p:nvPr/>
        </p:nvPicPr>
        <p:blipFill>
          <a:blip r:embed="rId1"/>
          <a:srcRect l="0" r="0" t="7786" b="7786"/>
          <a:stretch/>
        </p:blipFill>
        <p:spPr>
          <a:xfrm>
            <a:off x="812800" y="1935485"/>
            <a:ext cx="3384550" cy="1905000"/>
          </a:xfrm>
          <a:custGeom>
            <a:avLst/>
            <a:gdLst/>
            <a:ahLst/>
            <a:cxnLst/>
            <a:rect l="l" t="t" r="r" b="b"/>
            <a:pathLst>
              <a:path w="3384550" h="1905000">
                <a:moveTo>
                  <a:pt x="0" y="152400"/>
                </a:moveTo>
                <a:arcTo wR="152400" hR="152400" stAng="10800000" swAng="5400000"/>
                <a:lnTo>
                  <a:pt x="3232150" y="0"/>
                </a:lnTo>
                <a:arcTo wR="152400" hR="152400" stAng="16200000" swAng="5400000"/>
                <a:lnTo>
                  <a:pt x="3384550" y="1905000"/>
                </a:lnTo>
                <a:lnTo>
                  <a:pt x="0" y="1905000"/>
                </a:lnTo>
                <a:close/>
              </a:path>
            </a:pathLst>
          </a:custGeom>
        </p:spPr>
      </p:pic>
      <p:sp>
        <p:nvSpPr>
          <p:cNvPr id="6" name="Text 3"/>
          <p:cNvSpPr/>
          <p:nvPr/>
        </p:nvSpPr>
        <p:spPr>
          <a:xfrm>
            <a:off x="1016000" y="4043685"/>
            <a:ext cx="306962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Bestand</a:t>
            </a:r>
            <a:endParaRPr lang="en-US" sz="1600" dirty="0"/>
          </a:p>
        </p:txBody>
      </p:sp>
      <p:sp>
        <p:nvSpPr>
          <p:cNvPr id="7" name="Text 4"/>
          <p:cNvSpPr/>
          <p:nvPr/>
        </p:nvSpPr>
        <p:spPr>
          <a:xfrm>
            <a:off x="1016000" y="4363727"/>
            <a:ext cx="30696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Ausstattung des eigenen Fahrzeugs mit Status: vorhanden, fehlt, prüfen oder defekt.</a:t>
            </a:r>
            <a:endParaRPr lang="en-US" sz="1200" dirty="0"/>
          </a:p>
        </p:txBody>
      </p:sp>
      <p:sp>
        <p:nvSpPr>
          <p:cNvPr id="8" name="Shape 5"/>
          <p:cNvSpPr/>
          <p:nvPr/>
        </p:nvSpPr>
        <p:spPr>
          <a:xfrm>
            <a:off x="4402614" y="1935485"/>
            <a:ext cx="3386693" cy="3271520"/>
          </a:xfrm>
          <a:prstGeom prst="roundRect">
            <a:avLst>
              <a:gd name="adj" fmla="val 4658"/>
            </a:avLst>
          </a:prstGeom>
          <a:solidFill>
            <a:srgbClr val="FBFCFE"/>
          </a:solidFill>
          <a:ln/>
          <a:effectLst>
            <a:outerShdw sx="100000" sy="100000" kx="0" ky="0" algn="bl" rotWithShape="0" blurRad="101600" dist="25400" dir="5400000">
              <a:srgbClr val="0E1F4D">
                <a:alpha val="8000"/>
              </a:srgbClr>
            </a:outerShdw>
          </a:effectLst>
        </p:spPr>
      </p:sp>
      <p:pic>
        <p:nvPicPr>
          <p:cNvPr id="9" name="Image 1" descr="Handkasse – aktueller Stand immer im Blick: Handy mit Kassenstand, Fahrer zählt Geld neben einem Rica-Lkw">    </p:cNvPr>
          <p:cNvPicPr>
            <a:picLocks noChangeAspect="1"/>
          </p:cNvPicPr>
          <p:nvPr/>
        </p:nvPicPr>
        <p:blipFill>
          <a:blip r:embed="rId2"/>
          <a:srcRect l="31" r="31" t="0" b="0"/>
          <a:stretch/>
        </p:blipFill>
        <p:spPr>
          <a:xfrm>
            <a:off x="4402614" y="1935485"/>
            <a:ext cx="3384550" cy="1905000"/>
          </a:xfrm>
          <a:custGeom>
            <a:avLst/>
            <a:gdLst/>
            <a:ahLst/>
            <a:cxnLst/>
            <a:rect l="l" t="t" r="r" b="b"/>
            <a:pathLst>
              <a:path w="3384550" h="1905000">
                <a:moveTo>
                  <a:pt x="0" y="152400"/>
                </a:moveTo>
                <a:arcTo wR="152400" hR="152400" stAng="10800000" swAng="5400000"/>
                <a:lnTo>
                  <a:pt x="3232150" y="0"/>
                </a:lnTo>
                <a:arcTo wR="152400" hR="152400" stAng="16200000" swAng="5400000"/>
                <a:lnTo>
                  <a:pt x="3384550" y="1905000"/>
                </a:lnTo>
                <a:lnTo>
                  <a:pt x="0" y="1905000"/>
                </a:lnTo>
                <a:close/>
              </a:path>
            </a:pathLst>
          </a:custGeom>
        </p:spPr>
      </p:pic>
      <p:sp>
        <p:nvSpPr>
          <p:cNvPr id="10" name="Text 6"/>
          <p:cNvSpPr/>
          <p:nvPr/>
        </p:nvSpPr>
        <p:spPr>
          <a:xfrm>
            <a:off x="4605814" y="4043685"/>
            <a:ext cx="306970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Handkasse</a:t>
            </a:r>
            <a:endParaRPr lang="en-US" sz="1600" dirty="0"/>
          </a:p>
        </p:txBody>
      </p:sp>
      <p:sp>
        <p:nvSpPr>
          <p:cNvPr id="11" name="Text 7"/>
          <p:cNvSpPr/>
          <p:nvPr/>
        </p:nvSpPr>
        <p:spPr>
          <a:xfrm>
            <a:off x="4605814" y="4363727"/>
            <a:ext cx="30697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Monat und aktueller Handkassenstand – bei Änderungen kommt eine Nachricht.</a:t>
            </a:r>
            <a:endParaRPr lang="en-US" sz="1200" dirty="0"/>
          </a:p>
        </p:txBody>
      </p:sp>
      <p:sp>
        <p:nvSpPr>
          <p:cNvPr id="12" name="Shape 8"/>
          <p:cNvSpPr/>
          <p:nvPr/>
        </p:nvSpPr>
        <p:spPr>
          <a:xfrm>
            <a:off x="7992507" y="1935485"/>
            <a:ext cx="3386693" cy="3271520"/>
          </a:xfrm>
          <a:prstGeom prst="roundRect">
            <a:avLst>
              <a:gd name="adj" fmla="val 4658"/>
            </a:avLst>
          </a:prstGeom>
          <a:solidFill>
            <a:srgbClr val="FBFCFE"/>
          </a:solidFill>
          <a:ln/>
          <a:effectLst>
            <a:outerShdw sx="100000" sy="100000" kx="0" ky="0" algn="bl" rotWithShape="0" blurRad="101600" dist="25400" dir="5400000">
              <a:srgbClr val="0E1F4D">
                <a:alpha val="8000"/>
              </a:srgbClr>
            </a:outerShdw>
          </a:effectLst>
        </p:spPr>
      </p:sp>
      <p:pic>
        <p:nvPicPr>
          <p:cNvPr id="13" name="Image 2" descr="Einarbeitungsplan – gemeinsam erfolgreich starten: erfahrener Fahrer erklärt einem neuen Kollegen etwas am Klemmbrett vor einem Rica-Kastenwagen">    </p:cNvPr>
          <p:cNvPicPr>
            <a:picLocks noChangeAspect="1"/>
          </p:cNvPicPr>
          <p:nvPr/>
        </p:nvPicPr>
        <p:blipFill>
          <a:blip r:embed="rId3"/>
          <a:srcRect l="5583" r="5583" t="0" b="0"/>
          <a:stretch/>
        </p:blipFill>
        <p:spPr>
          <a:xfrm>
            <a:off x="7992507" y="1935485"/>
            <a:ext cx="3384550" cy="1905000"/>
          </a:xfrm>
          <a:custGeom>
            <a:avLst/>
            <a:gdLst/>
            <a:ahLst/>
            <a:cxnLst/>
            <a:rect l="l" t="t" r="r" b="b"/>
            <a:pathLst>
              <a:path w="3384550" h="1905000">
                <a:moveTo>
                  <a:pt x="0" y="152400"/>
                </a:moveTo>
                <a:arcTo wR="152400" hR="152400" stAng="10800000" swAng="5400000"/>
                <a:lnTo>
                  <a:pt x="3232150" y="0"/>
                </a:lnTo>
                <a:arcTo wR="152400" hR="152400" stAng="16200000" swAng="5400000"/>
                <a:lnTo>
                  <a:pt x="3384550" y="1905000"/>
                </a:lnTo>
                <a:lnTo>
                  <a:pt x="0" y="1905000"/>
                </a:lnTo>
                <a:close/>
              </a:path>
            </a:pathLst>
          </a:custGeom>
        </p:spPr>
      </p:pic>
      <p:sp>
        <p:nvSpPr>
          <p:cNvPr id="14" name="Text 9"/>
          <p:cNvSpPr/>
          <p:nvPr/>
        </p:nvSpPr>
        <p:spPr>
          <a:xfrm>
            <a:off x="8195707" y="4043685"/>
            <a:ext cx="306970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Einarbeitung</a:t>
            </a:r>
            <a:endParaRPr lang="en-US" sz="1600" dirty="0"/>
          </a:p>
        </p:txBody>
      </p:sp>
      <p:sp>
        <p:nvSpPr>
          <p:cNvPr id="15" name="Text 10"/>
          <p:cNvSpPr/>
          <p:nvPr/>
        </p:nvSpPr>
        <p:spPr>
          <a:xfrm>
            <a:off x="8195707" y="4363727"/>
            <a:ext cx="306970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66"/>
                </a:solidFill>
                <a:latin typeface="Nunito Sans" pitchFamily="34" charset="0"/>
                <a:ea typeface="Nunito Sans" pitchFamily="34" charset="-122"/>
                <a:cs typeface="Nunito Sans" pitchFamily="34" charset="-120"/>
              </a:rPr>
              <a:t>Einarbeitungsplan mit 14 Themen für neue Fahrer – von beiden unterschrieben, als PDF.</a:t>
            </a:r>
            <a:endParaRPr lang="en-US" sz="1200" dirty="0"/>
          </a:p>
        </p:txBody>
      </p:sp>
      <p:sp>
        <p:nvSpPr>
          <p:cNvPr id="16" name="Text 11"/>
          <p:cNvSpPr/>
          <p:nvPr/>
        </p:nvSpPr>
        <p:spPr>
          <a:xfrm>
            <a:off x="812800" y="6238242"/>
            <a:ext cx="26259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a:t>
            </a:r>
            <a:endParaRPr lang="en-US" sz="1200" dirty="0"/>
          </a:p>
        </p:txBody>
      </p:sp>
      <p:sp>
        <p:nvSpPr>
          <p:cNvPr id="17" name="Text 1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5FE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3F6FB"/>
                </a:solidFill>
                <a:latin typeface="Nunito Sans" pitchFamily="34" charset="0"/>
                <a:ea typeface="Nunito Sans" pitchFamily="34" charset="-122"/>
                <a:cs typeface="Nunito Sans" pitchFamily="34" charset="-120"/>
              </a:rPr>
              <a:t>UNSER ANSPRUCH</a:t>
            </a:r>
            <a:endParaRPr lang="en-US" sz="1200" dirty="0"/>
          </a:p>
        </p:txBody>
      </p:sp>
      <p:sp>
        <p:nvSpPr>
          <p:cNvPr id="3" name="Text 1"/>
          <p:cNvSpPr/>
          <p:nvPr>
            <p:ph type="title"/>
          </p:nvPr>
        </p:nvSpPr>
        <p:spPr>
          <a:xfrm>
            <a:off x="812800" y="1178558"/>
            <a:ext cx="10883392" cy="24257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6FB"/>
                </a:solidFill>
                <a:latin typeface="Montserrat" pitchFamily="34" charset="0"/>
                <a:ea typeface="Montserrat" pitchFamily="34" charset="-122"/>
                <a:cs typeface="Montserrat" pitchFamily="34" charset="-120"/>
              </a:rPr>
              <a:t>Einfach.</a:t>
            </a:r>
            <a:endParaRPr lang="en-US" sz="6000" dirty="0"/>
          </a:p>
          <a:p>
            <a:pPr algn="l" indent="0" marL="0">
              <a:lnSpc>
                <a:spcPts val="6300"/>
              </a:lnSpc>
              <a:buNone/>
            </a:pPr>
            <a:r>
              <a:rPr lang="en-US" sz="6000" b="1" i="0" dirty="0">
                <a:solidFill>
                  <a:srgbClr val="F3F6FB"/>
                </a:solidFill>
                <a:latin typeface="Montserrat" pitchFamily="34" charset="0"/>
                <a:ea typeface="Montserrat" pitchFamily="34" charset="-122"/>
                <a:cs typeface="Montserrat" pitchFamily="34" charset="-120"/>
              </a:rPr>
              <a:t>Digital.</a:t>
            </a:r>
            <a:endParaRPr lang="en-US" sz="6000" dirty="0"/>
          </a:p>
          <a:p>
            <a:pPr algn="l" indent="0" marL="0">
              <a:lnSpc>
                <a:spcPts val="6300"/>
              </a:lnSpc>
              <a:buNone/>
            </a:pPr>
            <a:r>
              <a:rPr lang="en-US" sz="6000" b="1" i="0" dirty="0">
                <a:solidFill>
                  <a:srgbClr val="F3F6FB"/>
                </a:solidFill>
                <a:latin typeface="Montserrat" pitchFamily="34" charset="0"/>
                <a:ea typeface="Montserrat" pitchFamily="34" charset="-122"/>
                <a:cs typeface="Montserrat" pitchFamily="34" charset="-120"/>
              </a:rPr>
              <a:t>Übersichtlich.</a:t>
            </a:r>
            <a:endParaRPr lang="en-US" sz="6000" dirty="0"/>
          </a:p>
        </p:txBody>
      </p:sp>
      <p:sp>
        <p:nvSpPr>
          <p:cNvPr id="4" name="Shape 2"/>
          <p:cNvSpPr/>
          <p:nvPr/>
        </p:nvSpPr>
        <p:spPr>
          <a:xfrm>
            <a:off x="812800" y="5198108"/>
            <a:ext cx="2489200" cy="0"/>
          </a:xfrm>
          <a:prstGeom prst="line">
            <a:avLst/>
          </a:prstGeom>
          <a:noFill/>
          <a:ln w="12700">
            <a:solidFill>
              <a:srgbClr val="9DBDF7"/>
            </a:solidFill>
            <a:prstDash val="solid"/>
          </a:ln>
        </p:spPr>
      </p:sp>
      <p:pic>
        <p:nvPicPr>
          <p:cNvPr id="5" name="Image 0" descr="Globe">    </p:cNvPr>
          <p:cNvPicPr>
            <a:picLocks noChangeAspect="1"/>
          </p:cNvPicPr>
          <p:nvPr/>
        </p:nvPicPr>
        <p:blipFill>
          <a:blip r:embed="rId1"/>
          <a:srcRect l="0" r="0" t="0" b="0"/>
          <a:stretch/>
        </p:blipFill>
        <p:spPr>
          <a:xfrm>
            <a:off x="812800" y="5354327"/>
            <a:ext cx="304800" cy="304800"/>
          </a:xfrm>
          <a:prstGeom prst="rect">
            <a:avLst/>
          </a:prstGeom>
        </p:spPr>
      </p:pic>
      <p:sp>
        <p:nvSpPr>
          <p:cNvPr id="6" name="Text 3"/>
          <p:cNvSpPr/>
          <p:nvPr/>
        </p:nvSpPr>
        <p:spPr>
          <a:xfrm>
            <a:off x="812800" y="5760727"/>
            <a:ext cx="256387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6FB"/>
                </a:solidFill>
                <a:latin typeface="Nunito Sans" pitchFamily="34" charset="0"/>
                <a:ea typeface="Nunito Sans" pitchFamily="34" charset="-122"/>
                <a:cs typeface="Nunito Sans" pitchFamily="34" charset="-120"/>
              </a:rPr>
              <a:t>Umweltbewusst</a:t>
            </a:r>
            <a:endParaRPr lang="en-US" sz="1600" dirty="0"/>
          </a:p>
        </p:txBody>
      </p:sp>
      <p:sp>
        <p:nvSpPr>
          <p:cNvPr id="7" name="Shape 4"/>
          <p:cNvSpPr/>
          <p:nvPr/>
        </p:nvSpPr>
        <p:spPr>
          <a:xfrm>
            <a:off x="3505200" y="5198108"/>
            <a:ext cx="2489200" cy="0"/>
          </a:xfrm>
          <a:prstGeom prst="line">
            <a:avLst/>
          </a:prstGeom>
          <a:noFill/>
          <a:ln w="12700">
            <a:solidFill>
              <a:srgbClr val="9DBDF7"/>
            </a:solidFill>
            <a:prstDash val="solid"/>
          </a:ln>
        </p:spPr>
      </p:sp>
      <p:pic>
        <p:nvPicPr>
          <p:cNvPr id="8" name="Image 1" descr="Users">    </p:cNvPr>
          <p:cNvPicPr>
            <a:picLocks noChangeAspect="1"/>
          </p:cNvPicPr>
          <p:nvPr/>
        </p:nvPicPr>
        <p:blipFill>
          <a:blip r:embed="rId2"/>
          <a:srcRect l="0" r="0" t="0" b="0"/>
          <a:stretch/>
        </p:blipFill>
        <p:spPr>
          <a:xfrm>
            <a:off x="3505200" y="5354327"/>
            <a:ext cx="304800" cy="304800"/>
          </a:xfrm>
          <a:prstGeom prst="rect">
            <a:avLst/>
          </a:prstGeom>
        </p:spPr>
      </p:pic>
      <p:sp>
        <p:nvSpPr>
          <p:cNvPr id="9" name="Text 5"/>
          <p:cNvSpPr/>
          <p:nvPr/>
        </p:nvSpPr>
        <p:spPr>
          <a:xfrm>
            <a:off x="3505200" y="5760727"/>
            <a:ext cx="256387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6FB"/>
                </a:solidFill>
                <a:latin typeface="Nunito Sans" pitchFamily="34" charset="0"/>
                <a:ea typeface="Nunito Sans" pitchFamily="34" charset="-122"/>
                <a:cs typeface="Nunito Sans" pitchFamily="34" charset="-120"/>
              </a:rPr>
              <a:t>Gemeinsam stärker</a:t>
            </a:r>
            <a:endParaRPr lang="en-US" sz="1600" dirty="0"/>
          </a:p>
        </p:txBody>
      </p:sp>
      <p:sp>
        <p:nvSpPr>
          <p:cNvPr id="10" name="Shape 6"/>
          <p:cNvSpPr/>
          <p:nvPr/>
        </p:nvSpPr>
        <p:spPr>
          <a:xfrm>
            <a:off x="6197600" y="5198108"/>
            <a:ext cx="2489200" cy="0"/>
          </a:xfrm>
          <a:prstGeom prst="line">
            <a:avLst/>
          </a:prstGeom>
          <a:noFill/>
          <a:ln w="12700">
            <a:solidFill>
              <a:srgbClr val="9DBDF7"/>
            </a:solidFill>
            <a:prstDash val="solid"/>
          </a:ln>
        </p:spPr>
      </p:sp>
      <p:pic>
        <p:nvPicPr>
          <p:cNvPr id="11" name="Image 2" descr="Verified">    </p:cNvPr>
          <p:cNvPicPr>
            <a:picLocks noChangeAspect="1"/>
          </p:cNvPicPr>
          <p:nvPr/>
        </p:nvPicPr>
        <p:blipFill>
          <a:blip r:embed="rId3"/>
          <a:srcRect l="0" r="0" t="0" b="0"/>
          <a:stretch/>
        </p:blipFill>
        <p:spPr>
          <a:xfrm>
            <a:off x="6197600" y="5354327"/>
            <a:ext cx="304800" cy="304800"/>
          </a:xfrm>
          <a:prstGeom prst="rect">
            <a:avLst/>
          </a:prstGeom>
        </p:spPr>
      </p:pic>
      <p:sp>
        <p:nvSpPr>
          <p:cNvPr id="12" name="Text 7"/>
          <p:cNvSpPr/>
          <p:nvPr/>
        </p:nvSpPr>
        <p:spPr>
          <a:xfrm>
            <a:off x="6197600" y="5760727"/>
            <a:ext cx="256387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6FB"/>
                </a:solidFill>
                <a:latin typeface="Nunito Sans" pitchFamily="34" charset="0"/>
                <a:ea typeface="Nunito Sans" pitchFamily="34" charset="-122"/>
                <a:cs typeface="Nunito Sans" pitchFamily="34" charset="-120"/>
              </a:rPr>
              <a:t>Zuverlässig im Einsatz</a:t>
            </a:r>
            <a:endParaRPr lang="en-US" sz="1600" dirty="0"/>
          </a:p>
        </p:txBody>
      </p:sp>
      <p:sp>
        <p:nvSpPr>
          <p:cNvPr id="13" name="Shape 8"/>
          <p:cNvSpPr/>
          <p:nvPr/>
        </p:nvSpPr>
        <p:spPr>
          <a:xfrm>
            <a:off x="8890000" y="5198108"/>
            <a:ext cx="2489200" cy="0"/>
          </a:xfrm>
          <a:prstGeom prst="line">
            <a:avLst/>
          </a:prstGeom>
          <a:noFill/>
          <a:ln w="12700">
            <a:solidFill>
              <a:srgbClr val="9DBDF7"/>
            </a:solidFill>
            <a:prstDash val="solid"/>
          </a:ln>
        </p:spPr>
      </p:sp>
      <p:pic>
        <p:nvPicPr>
          <p:cNvPr id="14" name="Image 3" descr="Lightning">    </p:cNvPr>
          <p:cNvPicPr>
            <a:picLocks noChangeAspect="1"/>
          </p:cNvPicPr>
          <p:nvPr/>
        </p:nvPicPr>
        <p:blipFill>
          <a:blip r:embed="rId4"/>
          <a:srcRect l="0" r="0" t="0" b="0"/>
          <a:stretch/>
        </p:blipFill>
        <p:spPr>
          <a:xfrm>
            <a:off x="8890000" y="5354327"/>
            <a:ext cx="304800" cy="304800"/>
          </a:xfrm>
          <a:prstGeom prst="rect">
            <a:avLst/>
          </a:prstGeom>
        </p:spPr>
      </p:pic>
      <p:sp>
        <p:nvSpPr>
          <p:cNvPr id="15" name="Text 9"/>
          <p:cNvSpPr/>
          <p:nvPr/>
        </p:nvSpPr>
        <p:spPr>
          <a:xfrm>
            <a:off x="8890000" y="5760727"/>
            <a:ext cx="256387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6FB"/>
                </a:solidFill>
                <a:latin typeface="Nunito Sans" pitchFamily="34" charset="0"/>
                <a:ea typeface="Nunito Sans" pitchFamily="34" charset="-122"/>
                <a:cs typeface="Nunito Sans" pitchFamily="34" charset="-120"/>
              </a:rPr>
              <a:t>Effiziente Prozesse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F4D"/>
        </a:solidFill>
      </p:bgPr>
    </p:bg>
    <p:spTree>
      <p:nvGrpSpPr>
        <p:cNvPr id="1" name=""/>
        <p:cNvGrpSpPr/>
        <p:nvPr/>
      </p:nvGrpSpPr>
      <p:grpSpPr>
        <a:xfrm>
          <a:off x="0" y="0"/>
          <a:ext cx="0" cy="0"/>
          <a:chOff x="0" y="0"/>
          <a:chExt cx="0" cy="0"/>
        </a:xfrm>
      </p:grpSpPr>
      <p:sp>
        <p:nvSpPr>
          <p:cNvPr id="2" name="Text 0"/>
          <p:cNvSpPr/>
          <p:nvPr/>
        </p:nvSpPr>
        <p:spPr>
          <a:xfrm>
            <a:off x="812800" y="24511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A8FF"/>
                </a:solidFill>
                <a:latin typeface="Nunito Sans" pitchFamily="34" charset="0"/>
                <a:ea typeface="Nunito Sans" pitchFamily="34" charset="-122"/>
                <a:cs typeface="Nunito Sans" pitchFamily="34" charset="-120"/>
              </a:rPr>
              <a:t>DANKE</a:t>
            </a:r>
            <a:endParaRPr lang="en-US" sz="1200" dirty="0"/>
          </a:p>
        </p:txBody>
      </p:sp>
      <p:sp>
        <p:nvSpPr>
          <p:cNvPr id="3" name="Text 1"/>
          <p:cNvSpPr/>
          <p:nvPr>
            <p:ph type="title"/>
          </p:nvPr>
        </p:nvSpPr>
        <p:spPr>
          <a:xfrm>
            <a:off x="812800" y="2816858"/>
            <a:ext cx="366268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6FB"/>
                </a:solidFill>
                <a:latin typeface="Montserrat" pitchFamily="34" charset="0"/>
                <a:ea typeface="Montserrat" pitchFamily="34" charset="-122"/>
                <a:cs typeface="Montserrat" pitchFamily="34" charset="-120"/>
              </a:rPr>
              <a:t>Vielen Dank!</a:t>
            </a:r>
            <a:endParaRPr lang="en-US" sz="3600" dirty="0"/>
          </a:p>
        </p:txBody>
      </p:sp>
      <p:sp>
        <p:nvSpPr>
          <p:cNvPr id="4" name="Text 2"/>
          <p:cNvSpPr/>
          <p:nvPr/>
        </p:nvSpPr>
        <p:spPr>
          <a:xfrm>
            <a:off x="812800" y="3472185"/>
            <a:ext cx="366268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E4"/>
                </a:solidFill>
                <a:latin typeface="Nunito Sans" pitchFamily="34" charset="0"/>
                <a:ea typeface="Nunito Sans" pitchFamily="34" charset="-122"/>
                <a:cs typeface="Nunito Sans" pitchFamily="34" charset="-120"/>
              </a:rPr>
              <a:t>Fragen? Ich zeige euch die App gern live auf dem Smartphone.</a:t>
            </a:r>
            <a:endParaRPr lang="en-US" sz="1600" dirty="0"/>
          </a:p>
        </p:txBody>
      </p:sp>
      <p:sp>
        <p:nvSpPr>
          <p:cNvPr id="5" name="Text 3"/>
          <p:cNvSpPr/>
          <p:nvPr/>
        </p:nvSpPr>
        <p:spPr>
          <a:xfrm>
            <a:off x="812800" y="4193542"/>
            <a:ext cx="3662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C8"/>
                </a:solidFill>
                <a:latin typeface="Nunito Sans" pitchFamily="34" charset="0"/>
                <a:ea typeface="Nunito Sans" pitchFamily="34" charset="-122"/>
                <a:cs typeface="Nunito Sans" pitchFamily="34" charset="-120"/>
              </a:rPr>
              <a:t>[Name] · [Telefon / E-Mail]</a:t>
            </a:r>
            <a:endParaRPr lang="en-US" sz="1200" dirty="0"/>
          </a:p>
        </p:txBody>
      </p:sp>
      <p:pic>
        <p:nvPicPr>
          <p:cNvPr id="6" name="Image 0" descr="Rica-Standort am Abend: beleuchtetes Firmengebäude mit Schild „Service perfekt“ – Transport, Service, Zuverlässig, Qualität, Sicherheit, Nachhaltigkeit – und Rica-Lkw auf dem Hof">    </p:cNvPr>
          <p:cNvPicPr>
            <a:picLocks noChangeAspect="1"/>
          </p:cNvPicPr>
          <p:nvPr/>
        </p:nvPicPr>
        <p:blipFill>
          <a:blip r:embed="rId1"/>
          <a:srcRect l="0" r="0" t="0" b="0"/>
          <a:stretch/>
        </p:blipFill>
        <p:spPr>
          <a:xfrm>
            <a:off x="4673600" y="1543050"/>
            <a:ext cx="6705600" cy="3771900"/>
          </a:xfrm>
          <a:prstGeom prst="roundRect">
            <a:avLst>
              <a:gd name="adj" fmla="val 4040"/>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6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E0"/>
                </a:solidFill>
                <a:latin typeface="Nunito Sans" pitchFamily="34" charset="0"/>
                <a:ea typeface="Nunito Sans" pitchFamily="34" charset="-122"/>
                <a:cs typeface="Nunito Sans" pitchFamily="34" charset="-120"/>
              </a:rPr>
              <a:t>DATENSCHUTZ</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F4D"/>
                </a:solidFill>
                <a:latin typeface="Montserrat" pitchFamily="34" charset="0"/>
                <a:ea typeface="Montserrat" pitchFamily="34" charset="-122"/>
                <a:cs typeface="Montserrat" pitchFamily="34" charset="-120"/>
              </a:rPr>
              <a:t>Deine Daten sind geschützt</a:t>
            </a:r>
            <a:endParaRPr lang="en-US" sz="3600" dirty="0"/>
          </a:p>
        </p:txBody>
      </p:sp>
      <p:sp>
        <p:nvSpPr>
          <p:cNvPr id="4" name="Shape 2"/>
          <p:cNvSpPr/>
          <p:nvPr/>
        </p:nvSpPr>
        <p:spPr>
          <a:xfrm>
            <a:off x="815975" y="1938660"/>
            <a:ext cx="5200650" cy="1217930"/>
          </a:xfrm>
          <a:prstGeom prst="roundRect">
            <a:avLst>
              <a:gd name="adj" fmla="val 12252"/>
            </a:avLst>
          </a:prstGeom>
          <a:solidFill>
            <a:srgbClr val="FBFCFE"/>
          </a:solidFill>
          <a:ln w="6350">
            <a:solidFill>
              <a:srgbClr val="D5DEEE"/>
            </a:solidFill>
            <a:prstDash val="solid"/>
          </a:ln>
        </p:spPr>
      </p:sp>
      <p:sp>
        <p:nvSpPr>
          <p:cNvPr id="5" name="Shape 3"/>
          <p:cNvSpPr/>
          <p:nvPr/>
        </p:nvSpPr>
        <p:spPr>
          <a:xfrm>
            <a:off x="1071880" y="2194558"/>
            <a:ext cx="406400" cy="406400"/>
          </a:xfrm>
          <a:prstGeom prst="roundRect">
            <a:avLst>
              <a:gd name="adj" fmla="val 25000"/>
            </a:avLst>
          </a:prstGeom>
          <a:solidFill>
            <a:srgbClr val="E6EDF8"/>
          </a:solidFill>
          <a:ln/>
        </p:spPr>
      </p:sp>
      <p:pic>
        <p:nvPicPr>
          <p:cNvPr id="6" name="Image 0" descr="Lock">    </p:cNvPr>
          <p:cNvPicPr>
            <a:picLocks noChangeAspect="1"/>
          </p:cNvPicPr>
          <p:nvPr/>
        </p:nvPicPr>
        <p:blipFill>
          <a:blip r:embed="rId1"/>
          <a:srcRect l="0" r="0" t="0" b="0"/>
          <a:stretch/>
        </p:blipFill>
        <p:spPr>
          <a:xfrm>
            <a:off x="1160780" y="2283458"/>
            <a:ext cx="228600" cy="228600"/>
          </a:xfrm>
          <a:prstGeom prst="rect">
            <a:avLst/>
          </a:prstGeom>
        </p:spPr>
      </p:pic>
      <p:sp>
        <p:nvSpPr>
          <p:cNvPr id="7" name="Text 4"/>
          <p:cNvSpPr/>
          <p:nvPr/>
        </p:nvSpPr>
        <p:spPr>
          <a:xfrm>
            <a:off x="1630680" y="2194558"/>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Gesichter unkenntlich</a:t>
            </a:r>
            <a:endParaRPr lang="en-US" sz="1600" dirty="0"/>
          </a:p>
        </p:txBody>
      </p:sp>
      <p:sp>
        <p:nvSpPr>
          <p:cNvPr id="8" name="Text 5"/>
          <p:cNvSpPr/>
          <p:nvPr/>
        </p:nvSpPr>
        <p:spPr>
          <a:xfrm>
            <a:off x="1630680" y="2489200"/>
            <a:ext cx="425394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Gesichter auf Fotos macht die App direkt auf dem Handy unkenntlich – auch im PDF.</a:t>
            </a:r>
            <a:endParaRPr lang="en-US" sz="1200" dirty="0"/>
          </a:p>
        </p:txBody>
      </p:sp>
      <p:sp>
        <p:nvSpPr>
          <p:cNvPr id="9" name="Shape 6"/>
          <p:cNvSpPr/>
          <p:nvPr/>
        </p:nvSpPr>
        <p:spPr>
          <a:xfrm>
            <a:off x="6175375" y="1938660"/>
            <a:ext cx="5200650" cy="1217930"/>
          </a:xfrm>
          <a:prstGeom prst="roundRect">
            <a:avLst>
              <a:gd name="adj" fmla="val 12252"/>
            </a:avLst>
          </a:prstGeom>
          <a:solidFill>
            <a:srgbClr val="FBFCFE"/>
          </a:solidFill>
          <a:ln w="6350">
            <a:solidFill>
              <a:srgbClr val="D5DEEE"/>
            </a:solidFill>
            <a:prstDash val="solid"/>
          </a:ln>
        </p:spPr>
      </p:sp>
      <p:sp>
        <p:nvSpPr>
          <p:cNvPr id="10" name="Shape 7"/>
          <p:cNvSpPr/>
          <p:nvPr/>
        </p:nvSpPr>
        <p:spPr>
          <a:xfrm>
            <a:off x="6431280" y="2194558"/>
            <a:ext cx="406400" cy="406400"/>
          </a:xfrm>
          <a:prstGeom prst="roundRect">
            <a:avLst>
              <a:gd name="adj" fmla="val 25000"/>
            </a:avLst>
          </a:prstGeom>
          <a:solidFill>
            <a:srgbClr val="E6EDF8"/>
          </a:solidFill>
          <a:ln/>
        </p:spPr>
      </p:sp>
      <p:pic>
        <p:nvPicPr>
          <p:cNvPr id="11" name="Image 1" descr="Lightbulb">    </p:cNvPr>
          <p:cNvPicPr>
            <a:picLocks noChangeAspect="1"/>
          </p:cNvPicPr>
          <p:nvPr/>
        </p:nvPicPr>
        <p:blipFill>
          <a:blip r:embed="rId2"/>
          <a:srcRect l="0" r="0" t="0" b="0"/>
          <a:stretch/>
        </p:blipFill>
        <p:spPr>
          <a:xfrm>
            <a:off x="6520180" y="2283458"/>
            <a:ext cx="228600" cy="228600"/>
          </a:xfrm>
          <a:prstGeom prst="rect">
            <a:avLst/>
          </a:prstGeom>
        </p:spPr>
      </p:pic>
      <p:sp>
        <p:nvSpPr>
          <p:cNvPr id="12" name="Text 8"/>
          <p:cNvSpPr/>
          <p:nvPr/>
        </p:nvSpPr>
        <p:spPr>
          <a:xfrm>
            <a:off x="6990080" y="2194558"/>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Hinweis vor Foto und Video</a:t>
            </a:r>
            <a:endParaRPr lang="en-US" sz="1600" dirty="0"/>
          </a:p>
        </p:txBody>
      </p:sp>
      <p:sp>
        <p:nvSpPr>
          <p:cNvPr id="13" name="Text 9"/>
          <p:cNvSpPr/>
          <p:nvPr/>
        </p:nvSpPr>
        <p:spPr>
          <a:xfrm>
            <a:off x="6990080" y="2489200"/>
            <a:ext cx="425394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Keine Personen aufnehmen – in Videos werden Gesichter nicht unkenntlich gemacht.</a:t>
            </a:r>
            <a:endParaRPr lang="en-US" sz="1200" dirty="0"/>
          </a:p>
        </p:txBody>
      </p:sp>
      <p:sp>
        <p:nvSpPr>
          <p:cNvPr id="14" name="Shape 10"/>
          <p:cNvSpPr/>
          <p:nvPr/>
        </p:nvSpPr>
        <p:spPr>
          <a:xfrm>
            <a:off x="815975" y="3315333"/>
            <a:ext cx="5200650" cy="1217930"/>
          </a:xfrm>
          <a:prstGeom prst="roundRect">
            <a:avLst>
              <a:gd name="adj" fmla="val 12252"/>
            </a:avLst>
          </a:prstGeom>
          <a:solidFill>
            <a:srgbClr val="FBFCFE"/>
          </a:solidFill>
          <a:ln w="6350">
            <a:solidFill>
              <a:srgbClr val="D5DEEE"/>
            </a:solidFill>
            <a:prstDash val="solid"/>
          </a:ln>
        </p:spPr>
      </p:sp>
      <p:sp>
        <p:nvSpPr>
          <p:cNvPr id="15" name="Shape 11"/>
          <p:cNvSpPr/>
          <p:nvPr/>
        </p:nvSpPr>
        <p:spPr>
          <a:xfrm>
            <a:off x="1071880" y="3571242"/>
            <a:ext cx="406400" cy="406400"/>
          </a:xfrm>
          <a:prstGeom prst="roundRect">
            <a:avLst>
              <a:gd name="adj" fmla="val 25000"/>
            </a:avLst>
          </a:prstGeom>
          <a:solidFill>
            <a:srgbClr val="E6EDF8"/>
          </a:solidFill>
          <a:ln/>
        </p:spPr>
      </p:sp>
      <p:pic>
        <p:nvPicPr>
          <p:cNvPr id="16" name="Image 2" descr="Key">    </p:cNvPr>
          <p:cNvPicPr>
            <a:picLocks noChangeAspect="1"/>
          </p:cNvPicPr>
          <p:nvPr/>
        </p:nvPicPr>
        <p:blipFill>
          <a:blip r:embed="rId3"/>
          <a:srcRect l="0" r="0" t="0" b="0"/>
          <a:stretch/>
        </p:blipFill>
        <p:spPr>
          <a:xfrm>
            <a:off x="1160780" y="3660142"/>
            <a:ext cx="228600" cy="228600"/>
          </a:xfrm>
          <a:prstGeom prst="rect">
            <a:avLst/>
          </a:prstGeom>
        </p:spPr>
      </p:pic>
      <p:sp>
        <p:nvSpPr>
          <p:cNvPr id="17" name="Text 12"/>
          <p:cNvSpPr/>
          <p:nvPr/>
        </p:nvSpPr>
        <p:spPr>
          <a:xfrm>
            <a:off x="1630680" y="3571242"/>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Nur eigene Daten</a:t>
            </a:r>
            <a:endParaRPr lang="en-US" sz="1600" dirty="0"/>
          </a:p>
        </p:txBody>
      </p:sp>
      <p:sp>
        <p:nvSpPr>
          <p:cNvPr id="18" name="Text 13"/>
          <p:cNvSpPr/>
          <p:nvPr/>
        </p:nvSpPr>
        <p:spPr>
          <a:xfrm>
            <a:off x="1630680" y="3865885"/>
            <a:ext cx="425394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Fahrer sehen nur ihre eigenen Vorgänge, Regionalleiter nur ihre eigene Region.</a:t>
            </a:r>
            <a:endParaRPr lang="en-US" sz="1200" dirty="0"/>
          </a:p>
        </p:txBody>
      </p:sp>
      <p:sp>
        <p:nvSpPr>
          <p:cNvPr id="19" name="Shape 14"/>
          <p:cNvSpPr/>
          <p:nvPr/>
        </p:nvSpPr>
        <p:spPr>
          <a:xfrm>
            <a:off x="6175375" y="3315333"/>
            <a:ext cx="5200650" cy="1217930"/>
          </a:xfrm>
          <a:prstGeom prst="roundRect">
            <a:avLst>
              <a:gd name="adj" fmla="val 12252"/>
            </a:avLst>
          </a:prstGeom>
          <a:solidFill>
            <a:srgbClr val="FBFCFE"/>
          </a:solidFill>
          <a:ln w="6350">
            <a:solidFill>
              <a:srgbClr val="D5DEEE"/>
            </a:solidFill>
            <a:prstDash val="solid"/>
          </a:ln>
        </p:spPr>
      </p:sp>
      <p:sp>
        <p:nvSpPr>
          <p:cNvPr id="20" name="Shape 15"/>
          <p:cNvSpPr/>
          <p:nvPr/>
        </p:nvSpPr>
        <p:spPr>
          <a:xfrm>
            <a:off x="6431280" y="3571242"/>
            <a:ext cx="406400" cy="406400"/>
          </a:xfrm>
          <a:prstGeom prst="roundRect">
            <a:avLst>
              <a:gd name="adj" fmla="val 25000"/>
            </a:avLst>
          </a:prstGeom>
          <a:solidFill>
            <a:srgbClr val="E6EDF8"/>
          </a:solidFill>
          <a:ln/>
        </p:spPr>
      </p:sp>
      <p:pic>
        <p:nvPicPr>
          <p:cNvPr id="21" name="Image 3" descr="Globe">    </p:cNvPr>
          <p:cNvPicPr>
            <a:picLocks noChangeAspect="1"/>
          </p:cNvPicPr>
          <p:nvPr/>
        </p:nvPicPr>
        <p:blipFill>
          <a:blip r:embed="rId4"/>
          <a:srcRect l="0" r="0" t="0" b="0"/>
          <a:stretch/>
        </p:blipFill>
        <p:spPr>
          <a:xfrm>
            <a:off x="6520180" y="3660142"/>
            <a:ext cx="228600" cy="228600"/>
          </a:xfrm>
          <a:prstGeom prst="rect">
            <a:avLst/>
          </a:prstGeom>
        </p:spPr>
      </p:pic>
      <p:sp>
        <p:nvSpPr>
          <p:cNvPr id="22" name="Text 16"/>
          <p:cNvSpPr/>
          <p:nvPr/>
        </p:nvSpPr>
        <p:spPr>
          <a:xfrm>
            <a:off x="6990080" y="3571242"/>
            <a:ext cx="42539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F4D"/>
                </a:solidFill>
                <a:latin typeface="Montserrat" pitchFamily="34" charset="0"/>
                <a:ea typeface="Montserrat" pitchFamily="34" charset="-122"/>
                <a:cs typeface="Montserrat" pitchFamily="34" charset="-120"/>
              </a:rPr>
              <a:t>Adresse statt Standort</a:t>
            </a:r>
            <a:endParaRPr lang="en-US" sz="1600" dirty="0"/>
          </a:p>
        </p:txBody>
      </p:sp>
      <p:sp>
        <p:nvSpPr>
          <p:cNvPr id="23" name="Text 17"/>
          <p:cNvSpPr/>
          <p:nvPr/>
        </p:nvSpPr>
        <p:spPr>
          <a:xfrm>
            <a:off x="6990080" y="3865885"/>
            <a:ext cx="425394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A66"/>
                </a:solidFill>
                <a:latin typeface="Nunito Sans" pitchFamily="34" charset="0"/>
                <a:ea typeface="Nunito Sans" pitchFamily="34" charset="-122"/>
                <a:cs typeface="Nunito Sans" pitchFamily="34" charset="-120"/>
              </a:rPr>
              <a:t>Gespeichert wird nur die Adresse des Vorgangs – kein Standortverlauf.</a:t>
            </a:r>
            <a:endParaRPr lang="en-US" sz="1200" dirty="0"/>
          </a:p>
        </p:txBody>
      </p:sp>
      <p:sp>
        <p:nvSpPr>
          <p:cNvPr id="24" name="Shape 18"/>
          <p:cNvSpPr/>
          <p:nvPr/>
        </p:nvSpPr>
        <p:spPr>
          <a:xfrm>
            <a:off x="812800" y="4841242"/>
            <a:ext cx="10566400" cy="660400"/>
          </a:xfrm>
          <a:prstGeom prst="roundRect">
            <a:avLst>
              <a:gd name="adj" fmla="val 23077"/>
            </a:avLst>
          </a:prstGeom>
          <a:solidFill>
            <a:srgbClr val="0E1F4D"/>
          </a:solidFill>
          <a:ln/>
        </p:spPr>
      </p:sp>
      <p:pic>
        <p:nvPicPr>
          <p:cNvPr id="25" name="Image 4" descr="Clock">    </p:cNvPr>
          <p:cNvPicPr>
            <a:picLocks noChangeAspect="1"/>
          </p:cNvPicPr>
          <p:nvPr/>
        </p:nvPicPr>
        <p:blipFill>
          <a:blip r:embed="rId5"/>
          <a:srcRect l="0" r="0" t="0" b="0"/>
          <a:stretch/>
        </p:blipFill>
        <p:spPr>
          <a:xfrm>
            <a:off x="1066800" y="5019042"/>
            <a:ext cx="304800" cy="304800"/>
          </a:xfrm>
          <a:prstGeom prst="rect">
            <a:avLst/>
          </a:prstGeom>
        </p:spPr>
      </p:pic>
      <p:sp>
        <p:nvSpPr>
          <p:cNvPr id="26" name="Text 19"/>
          <p:cNvSpPr/>
          <p:nvPr/>
        </p:nvSpPr>
        <p:spPr>
          <a:xfrm>
            <a:off x="1524000" y="5029200"/>
            <a:ext cx="830941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6FB"/>
                </a:solidFill>
                <a:latin typeface="Nunito Sans" pitchFamily="34" charset="0"/>
                <a:ea typeface="Nunito Sans" pitchFamily="34" charset="-122"/>
                <a:cs typeface="Nunito Sans" pitchFamily="34" charset="-120"/>
              </a:rPr>
              <a:t>Gespeichert in Frankfurt – gelöscht nach 5 Jahren, Handkasse nach 8 Jahren.</a:t>
            </a:r>
            <a:endParaRPr lang="en-US" sz="1600" dirty="0"/>
          </a:p>
        </p:txBody>
      </p:sp>
      <p:sp>
        <p:nvSpPr>
          <p:cNvPr id="27" name="Text 20"/>
          <p:cNvSpPr/>
          <p:nvPr/>
        </p:nvSpPr>
        <p:spPr>
          <a:xfrm>
            <a:off x="812800" y="6238242"/>
            <a:ext cx="76428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Fahrer App · Rica Service GmbH · Datenschutzerklärung und Impressum: in den Einstellungen</a:t>
            </a:r>
            <a:endParaRPr lang="en-US" sz="1200" dirty="0"/>
          </a:p>
        </p:txBody>
      </p:sp>
      <p:sp>
        <p:nvSpPr>
          <p:cNvPr id="28" name="Text 2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785"/>
                </a:solidFill>
                <a:latin typeface="Nunito Sans" pitchFamily="34" charset="0"/>
                <a:ea typeface="Nunito Sans" pitchFamily="34" charset="-122"/>
                <a:cs typeface="Nunito Sans" pitchFamily="34" charset="-120"/>
              </a:rPr>
              <a:t>27</a:t>
            </a:r>
            <a:endParaRPr lang="en-US" sz="1200" dirty="0"/>
          </a:p>
        </p:txBody>
      </p:sp>
    </p:spTree>
  </p:cSld>
  <p:clrMapOvr>
    <a:masterClrMapping/>
  </p:clrMapOvr>
</p:sld>
</file>

<file path=ppt/theme/theme1.xml><?xml version="1.0" encoding="utf-8"?>
<a:theme xmlns:a="http://schemas.openxmlformats.org/drawingml/2006/main" name="Fahrer App – Präsentation">
  <a:themeElements>
    <a:clrScheme name="Fahrer App – Präsentation">
      <a:dk1>
        <a:srgbClr val="0E1F4D"/>
      </a:dk1>
      <a:lt1>
        <a:srgbClr val="F3F6FB"/>
      </a:lt1>
      <a:dk2>
        <a:srgbClr val="475579"/>
      </a:dk2>
      <a:lt2>
        <a:srgbClr val="DCE1EA"/>
      </a:lt2>
      <a:accent1>
        <a:srgbClr val="3D4A66"/>
      </a:accent1>
      <a:accent2>
        <a:srgbClr val="1F5FE0"/>
      </a:accent2>
      <a:accent3>
        <a:srgbClr val="5A6785"/>
      </a:accent3>
      <a:accent4>
        <a:srgbClr val="B9C6E4"/>
      </a:accent4>
      <a:accent5>
        <a:srgbClr val="8FA0C8"/>
      </a:accent5>
      <a:accent6>
        <a:srgbClr val="0E2A6B"/>
      </a:accent6>
      <a:hlink>
        <a:srgbClr val="0563C1"/>
      </a:hlink>
      <a:folHlink>
        <a:srgbClr val="954F72"/>
      </a:folHlink>
    </a:clrScheme>
    <a:fontScheme name="Fahrer App – Präsentation">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Fahrer App – Präsentation</dc:title>
  <dc:subject/>
  <dc:creator/>
  <cp:lastModifiedBy/>
  <cp:revision>1</cp:revision>
  <dcterms:created xsi:type="dcterms:W3CDTF">2026-10-16T18:29:54Z</dcterms:created>
  <dcterms:modified xsi:type="dcterms:W3CDTF">2026-10-16T18:29:54Z</dcterms:modified>
</cp:coreProperties>
</file>